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Claude Sonnet 4.6</c:v>
                </c:pt>
              </c:strCache>
            </c:strRef>
          </c:tx>
          <c:spPr>
            <a:solidFill>
              <a:srgbClr val="0D9488"/>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Overall</c:v>
                  </c:pt>
                  <c:pt idx="1">
                    <c:v>Type A
Clock</c:v>
                  </c:pt>
                  <c:pt idx="2">
                    <c:v>Type B
Intervention</c:v>
                  </c:pt>
                  <c:pt idx="3">
                    <c:v>Type C
Tissue</c:v>
                  </c:pt>
                  <c:pt idx="4">
                    <c:v>Type D
Confounders</c:v>
                  </c:pt>
                </c:lvl>
              </c:multiLvlStrCache>
            </c:multiLvlStrRef>
          </c:cat>
          <c:val>
            <c:numRef>
              <c:f>Sheet1!$B$2:$B$6</c:f>
              <c:numCache>
                <c:formatCode>General</c:formatCode>
                <c:ptCount val="5"/>
                <c:pt idx="0">
                  <c:v>77.2</c:v>
                </c:pt>
                <c:pt idx="1">
                  <c:v>96.1</c:v>
                </c:pt>
                <c:pt idx="2">
                  <c:v>40</c:v>
                </c:pt>
                <c:pt idx="3">
                  <c:v>88.1</c:v>
                </c:pt>
                <c:pt idx="4">
                  <c:v>66.2</c:v>
                </c:pt>
              </c:numCache>
            </c:numRef>
          </c:val>
        </c:ser>
        <c:ser>
          <c:idx val="1"/>
          <c:order val="1"/>
          <c:tx>
            <c:strRef>
              <c:f>Sheet1!$C$1</c:f>
              <c:strCache>
                <c:ptCount val="1"/>
                <c:pt idx="0">
                  <c:v>BioLLM</c:v>
                </c:pt>
              </c:strCache>
            </c:strRef>
          </c:tx>
          <c:spPr>
            <a:solidFill>
              <a:srgbClr val="64748B"/>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Overall</c:v>
                  </c:pt>
                  <c:pt idx="1">
                    <c:v>Type A
Clock</c:v>
                  </c:pt>
                  <c:pt idx="2">
                    <c:v>Type B
Intervention</c:v>
                  </c:pt>
                  <c:pt idx="3">
                    <c:v>Type C
Tissue</c:v>
                  </c:pt>
                  <c:pt idx="4">
                    <c:v>Type D
Confounders</c:v>
                  </c:pt>
                </c:lvl>
              </c:multiLvlStrCache>
            </c:multiLvlStrRef>
          </c:cat>
          <c:val>
            <c:numRef>
              <c:f>Sheet1!$C$2:$C$6</c:f>
              <c:numCache>
                <c:formatCode>General</c:formatCode>
                <c:ptCount val="5"/>
                <c:pt idx="0">
                  <c:v>55.4</c:v>
                </c:pt>
                <c:pt idx="1">
                  <c:v>63.9</c:v>
                </c:pt>
                <c:pt idx="2">
                  <c:v>45</c:v>
                </c:pt>
                <c:pt idx="3">
                  <c:v>63.9</c:v>
                </c:pt>
                <c:pt idx="4">
                  <c:v>34.6</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sp>
      <p:sp>
        <p:nvSpPr>
          <p:cNvPr id="3" name="Shape 1"/>
          <p:cNvSpPr/>
          <p:nvPr/>
        </p:nvSpPr>
        <p:spPr>
          <a:xfrm>
            <a:off x="6858000" y="-731520"/>
            <a:ext cx="3657600" cy="3657600"/>
          </a:xfrm>
          <a:prstGeom prst="ellipse">
            <a:avLst/>
          </a:prstGeom>
          <a:solidFill>
            <a:srgbClr val="0D9488">
              <a:alpha val="12000"/>
            </a:srgbClr>
          </a:solidFill>
          <a:ln w="12700">
            <a:solidFill>
              <a:srgbClr val="0D9488">
                <a:alpha val="20000"/>
              </a:srgbClr>
            </a:solidFill>
            <a:prstDash val="solid"/>
          </a:ln>
        </p:spPr>
      </p:sp>
      <p:sp>
        <p:nvSpPr>
          <p:cNvPr id="4" name="Shape 2"/>
          <p:cNvSpPr/>
          <p:nvPr/>
        </p:nvSpPr>
        <p:spPr>
          <a:xfrm>
            <a:off x="7772400" y="2286000"/>
            <a:ext cx="2286000" cy="2286000"/>
          </a:xfrm>
          <a:prstGeom prst="ellipse">
            <a:avLst/>
          </a:prstGeom>
          <a:solidFill>
            <a:srgbClr val="0D9488">
              <a:alpha val="8000"/>
            </a:srgbClr>
          </a:solidFill>
          <a:ln w="12700">
            <a:solidFill>
              <a:srgbClr val="0D9488">
                <a:alpha val="15000"/>
              </a:srgbClr>
            </a:solidFill>
            <a:prstDash val="solid"/>
          </a:ln>
        </p:spPr>
      </p:sp>
      <p:sp>
        <p:nvSpPr>
          <p:cNvPr id="5" name="Shape 3"/>
          <p:cNvSpPr/>
          <p:nvPr/>
        </p:nvSpPr>
        <p:spPr>
          <a:xfrm>
            <a:off x="457200" y="457200"/>
            <a:ext cx="2560320" cy="320040"/>
          </a:xfrm>
          <a:prstGeom prst="roundRect">
            <a:avLst>
              <a:gd name="adj" fmla="val 22857"/>
            </a:avLst>
          </a:prstGeom>
          <a:solidFill>
            <a:srgbClr val="0D9488">
              <a:alpha val="25000"/>
            </a:srgbClr>
          </a:solidFill>
          <a:ln w="12700">
            <a:solidFill>
              <a:srgbClr val="0D9488">
                <a:alpha val="50000"/>
              </a:srgbClr>
            </a:solidFill>
            <a:prstDash val="solid"/>
          </a:ln>
        </p:spPr>
      </p:sp>
      <p:sp>
        <p:nvSpPr>
          <p:cNvPr id="6" name="Text 4"/>
          <p:cNvSpPr/>
          <p:nvPr/>
        </p:nvSpPr>
        <p:spPr>
          <a:xfrm>
            <a:off x="457200" y="457200"/>
            <a:ext cx="2560320" cy="320040"/>
          </a:xfrm>
          <a:prstGeom prst="rect">
            <a:avLst/>
          </a:prstGeom>
          <a:noFill/>
          <a:ln/>
        </p:spPr>
        <p:txBody>
          <a:bodyPr wrap="square" lIns="0" tIns="0" rIns="0" bIns="0" rtlCol="0" anchor="ctr"/>
          <a:lstStyle/>
          <a:p>
            <a:pPr algn="ctr" indent="0" marL="0">
              <a:buNone/>
            </a:pPr>
            <a:r>
              <a:rPr lang="en-US" sz="900" b="1" dirty="0">
                <a:solidFill>
                  <a:srgbClr val="14B8A6"/>
                </a:solidFill>
              </a:rPr>
              <a:t>AI LONGEVITY TRACK  ·  CALTECH 2026</a:t>
            </a:r>
            <a:endParaRPr lang="en-US" sz="900" dirty="0"/>
          </a:p>
        </p:txBody>
      </p:sp>
      <p:sp>
        <p:nvSpPr>
          <p:cNvPr id="7" name="Text 5"/>
          <p:cNvSpPr/>
          <p:nvPr/>
        </p:nvSpPr>
        <p:spPr>
          <a:xfrm>
            <a:off x="457200" y="1005840"/>
            <a:ext cx="8229600" cy="777240"/>
          </a:xfrm>
          <a:prstGeom prst="rect">
            <a:avLst/>
          </a:prstGeom>
          <a:noFill/>
          <a:ln/>
        </p:spPr>
        <p:txBody>
          <a:bodyPr wrap="square"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Epigenetic Clock</a:t>
            </a:r>
            <a:endParaRPr lang="en-US" sz="5200" dirty="0"/>
          </a:p>
        </p:txBody>
      </p:sp>
      <p:sp>
        <p:nvSpPr>
          <p:cNvPr id="8" name="Text 6"/>
          <p:cNvSpPr/>
          <p:nvPr/>
        </p:nvSpPr>
        <p:spPr>
          <a:xfrm>
            <a:off x="457200" y="1691640"/>
            <a:ext cx="8229600" cy="777240"/>
          </a:xfrm>
          <a:prstGeom prst="rect">
            <a:avLst/>
          </a:prstGeom>
          <a:noFill/>
          <a:ln/>
        </p:spPr>
        <p:txBody>
          <a:bodyPr wrap="square" rtlCol="0" anchor="ctr"/>
          <a:lstStyle/>
          <a:p>
            <a:pPr indent="0" marL="0">
              <a:buNone/>
            </a:pPr>
            <a:r>
              <a:rPr lang="en-US" sz="5200" b="1" dirty="0">
                <a:solidFill>
                  <a:srgbClr val="14B8A6"/>
                </a:solidFill>
                <a:latin typeface="Calibri" pitchFamily="34" charset="0"/>
                <a:ea typeface="Calibri" pitchFamily="34" charset="-122"/>
                <a:cs typeface="Calibri" pitchFamily="34" charset="-120"/>
              </a:rPr>
              <a:t>Reasoning Bench</a:t>
            </a:r>
            <a:endParaRPr lang="en-US" sz="5200" dirty="0"/>
          </a:p>
        </p:txBody>
      </p:sp>
      <p:sp>
        <p:nvSpPr>
          <p:cNvPr id="9" name="Text 7"/>
          <p:cNvSpPr/>
          <p:nvPr/>
        </p:nvSpPr>
        <p:spPr>
          <a:xfrm>
            <a:off x="457200" y="2606040"/>
            <a:ext cx="6858000" cy="41148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Testing whether LLMs can actually reason about biological aging</a:t>
            </a:r>
            <a:endParaRPr lang="en-US" sz="1600" dirty="0"/>
          </a:p>
        </p:txBody>
      </p:sp>
      <p:sp>
        <p:nvSpPr>
          <p:cNvPr id="10" name="Shape 8"/>
          <p:cNvSpPr/>
          <p:nvPr/>
        </p:nvSpPr>
        <p:spPr>
          <a:xfrm>
            <a:off x="457200" y="3154680"/>
            <a:ext cx="3200400" cy="22860"/>
          </a:xfrm>
          <a:prstGeom prst="rect">
            <a:avLst/>
          </a:prstGeom>
          <a:solidFill>
            <a:srgbClr val="0D9488"/>
          </a:solidFill>
          <a:ln w="12700">
            <a:solidFill>
              <a:srgbClr val="0D9488"/>
            </a:solidFill>
            <a:prstDash val="solid"/>
          </a:ln>
        </p:spPr>
      </p:sp>
      <p:sp>
        <p:nvSpPr>
          <p:cNvPr id="11" name="Text 9"/>
          <p:cNvSpPr/>
          <p:nvPr/>
        </p:nvSpPr>
        <p:spPr>
          <a:xfrm>
            <a:off x="457200" y="3337560"/>
            <a:ext cx="1828800" cy="502920"/>
          </a:xfrm>
          <a:prstGeom prst="rect">
            <a:avLst/>
          </a:prstGeom>
          <a:noFill/>
          <a:ln/>
        </p:spPr>
        <p:txBody>
          <a:bodyPr wrap="square" rtlCol="0" anchor="ctr"/>
          <a:lstStyle/>
          <a:p>
            <a:pPr indent="0" marL="0">
              <a:buNone/>
            </a:pPr>
            <a:r>
              <a:rPr lang="en-US" sz="2800" b="1" dirty="0">
                <a:solidFill>
                  <a:srgbClr val="14B8A6"/>
                </a:solidFill>
                <a:latin typeface="Calibri" pitchFamily="34" charset="0"/>
                <a:ea typeface="Calibri" pitchFamily="34" charset="-122"/>
                <a:cs typeface="Calibri" pitchFamily="34" charset="-120"/>
              </a:rPr>
              <a:t>200</a:t>
            </a:r>
            <a:endParaRPr lang="en-US" sz="2800" dirty="0"/>
          </a:p>
        </p:txBody>
      </p:sp>
      <p:sp>
        <p:nvSpPr>
          <p:cNvPr id="12" name="Text 10"/>
          <p:cNvSpPr/>
          <p:nvPr/>
        </p:nvSpPr>
        <p:spPr>
          <a:xfrm>
            <a:off x="457200" y="3794760"/>
            <a:ext cx="1828800" cy="27432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Scenarios</a:t>
            </a:r>
            <a:endParaRPr lang="en-US" sz="1100" dirty="0"/>
          </a:p>
        </p:txBody>
      </p:sp>
      <p:sp>
        <p:nvSpPr>
          <p:cNvPr id="13" name="Text 11"/>
          <p:cNvSpPr/>
          <p:nvPr/>
        </p:nvSpPr>
        <p:spPr>
          <a:xfrm>
            <a:off x="2560320" y="3337560"/>
            <a:ext cx="1828800" cy="502920"/>
          </a:xfrm>
          <a:prstGeom prst="rect">
            <a:avLst/>
          </a:prstGeom>
          <a:noFill/>
          <a:ln/>
        </p:spPr>
        <p:txBody>
          <a:bodyPr wrap="square" rtlCol="0" anchor="ctr"/>
          <a:lstStyle/>
          <a:p>
            <a:pPr indent="0" marL="0">
              <a:buNone/>
            </a:pPr>
            <a:r>
              <a:rPr lang="en-US" sz="2800" b="1" dirty="0">
                <a:solidFill>
                  <a:srgbClr val="14B8A6"/>
                </a:solidFill>
                <a:latin typeface="Calibri" pitchFamily="34" charset="0"/>
                <a:ea typeface="Calibri" pitchFamily="34" charset="-122"/>
                <a:cs typeface="Calibri" pitchFamily="34" charset="-120"/>
              </a:rPr>
              <a:t>2</a:t>
            </a:r>
            <a:endParaRPr lang="en-US" sz="2800" dirty="0"/>
          </a:p>
        </p:txBody>
      </p:sp>
      <p:sp>
        <p:nvSpPr>
          <p:cNvPr id="14" name="Text 12"/>
          <p:cNvSpPr/>
          <p:nvPr/>
        </p:nvSpPr>
        <p:spPr>
          <a:xfrm>
            <a:off x="2560320" y="3794760"/>
            <a:ext cx="1828800" cy="27432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Models Tested</a:t>
            </a:r>
            <a:endParaRPr lang="en-US" sz="1100" dirty="0"/>
          </a:p>
        </p:txBody>
      </p:sp>
      <p:sp>
        <p:nvSpPr>
          <p:cNvPr id="15" name="Text 13"/>
          <p:cNvSpPr/>
          <p:nvPr/>
        </p:nvSpPr>
        <p:spPr>
          <a:xfrm>
            <a:off x="4663440" y="3337560"/>
            <a:ext cx="1828800" cy="502920"/>
          </a:xfrm>
          <a:prstGeom prst="rect">
            <a:avLst/>
          </a:prstGeom>
          <a:noFill/>
          <a:ln/>
        </p:spPr>
        <p:txBody>
          <a:bodyPr wrap="square" rtlCol="0" anchor="ctr"/>
          <a:lstStyle/>
          <a:p>
            <a:pPr indent="0" marL="0">
              <a:buNone/>
            </a:pPr>
            <a:r>
              <a:rPr lang="en-US" sz="2800" b="1" dirty="0">
                <a:solidFill>
                  <a:srgbClr val="14B8A6"/>
                </a:solidFill>
                <a:latin typeface="Calibri" pitchFamily="34" charset="0"/>
                <a:ea typeface="Calibri" pitchFamily="34" charset="-122"/>
                <a:cs typeface="Calibri" pitchFamily="34" charset="-120"/>
              </a:rPr>
              <a:t>656</a:t>
            </a:r>
            <a:endParaRPr lang="en-US" sz="2800" dirty="0"/>
          </a:p>
        </p:txBody>
      </p:sp>
      <p:sp>
        <p:nvSpPr>
          <p:cNvPr id="16" name="Text 14"/>
          <p:cNvSpPr/>
          <p:nvPr/>
        </p:nvSpPr>
        <p:spPr>
          <a:xfrm>
            <a:off x="4663440" y="3794760"/>
            <a:ext cx="1828800" cy="27432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Real Humans</a:t>
            </a:r>
            <a:endParaRPr lang="en-US" sz="1100" dirty="0"/>
          </a:p>
        </p:txBody>
      </p:sp>
      <p:sp>
        <p:nvSpPr>
          <p:cNvPr id="17" name="Text 15"/>
          <p:cNvSpPr/>
          <p:nvPr/>
        </p:nvSpPr>
        <p:spPr>
          <a:xfrm>
            <a:off x="6766560" y="3337560"/>
            <a:ext cx="1828800" cy="502920"/>
          </a:xfrm>
          <a:prstGeom prst="rect">
            <a:avLst/>
          </a:prstGeom>
          <a:noFill/>
          <a:ln/>
        </p:spPr>
        <p:txBody>
          <a:bodyPr wrap="square" rtlCol="0" anchor="ctr"/>
          <a:lstStyle/>
          <a:p>
            <a:pPr indent="0" marL="0">
              <a:buNone/>
            </a:pPr>
            <a:r>
              <a:rPr lang="en-US" sz="2800" b="1" dirty="0">
                <a:solidFill>
                  <a:srgbClr val="14B8A6"/>
                </a:solidFill>
                <a:latin typeface="Calibri" pitchFamily="34" charset="0"/>
                <a:ea typeface="Calibri" pitchFamily="34" charset="-122"/>
                <a:cs typeface="Calibri" pitchFamily="34" charset="-120"/>
              </a:rPr>
              <a:t>4</a:t>
            </a:r>
            <a:endParaRPr lang="en-US" sz="2800" dirty="0"/>
          </a:p>
        </p:txBody>
      </p:sp>
      <p:sp>
        <p:nvSpPr>
          <p:cNvPr id="18" name="Text 16"/>
          <p:cNvSpPr/>
          <p:nvPr/>
        </p:nvSpPr>
        <p:spPr>
          <a:xfrm>
            <a:off x="6766560" y="3794760"/>
            <a:ext cx="1828800" cy="27432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Task Types</a:t>
            </a:r>
            <a:endParaRPr lang="en-US" sz="1100" dirty="0"/>
          </a:p>
        </p:txBody>
      </p:sp>
      <p:sp>
        <p:nvSpPr>
          <p:cNvPr id="19" name="Text 17"/>
          <p:cNvSpPr/>
          <p:nvPr/>
        </p:nvSpPr>
        <p:spPr>
          <a:xfrm>
            <a:off x="457200" y="4663440"/>
            <a:ext cx="457200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Vishnu Tej Gavvala  ·  University of Colorado Boulder</a:t>
            </a:r>
            <a:endParaRPr lang="en-US" sz="1000" dirty="0"/>
          </a:p>
        </p:txBody>
      </p:sp>
      <p:sp>
        <p:nvSpPr>
          <p:cNvPr id="20" name="Text 18"/>
          <p:cNvSpPr/>
          <p:nvPr/>
        </p:nvSpPr>
        <p:spPr>
          <a:xfrm>
            <a:off x="457200" y="4846320"/>
            <a:ext cx="365760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Varun Nair  ·  UC Santa Cruz</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37160"/>
            <a:ext cx="2743200" cy="274320"/>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THE PROBLEM</a:t>
            </a:r>
            <a:endParaRPr lang="en-US" sz="900" dirty="0"/>
          </a:p>
        </p:txBody>
      </p:sp>
      <p:sp>
        <p:nvSpPr>
          <p:cNvPr id="4" name="Text 2"/>
          <p:cNvSpPr/>
          <p:nvPr/>
        </p:nvSpPr>
        <p:spPr>
          <a:xfrm>
            <a:off x="457200" y="502920"/>
            <a:ext cx="8229600" cy="822960"/>
          </a:xfrm>
          <a:prstGeom prst="rect">
            <a:avLst/>
          </a:prstGeom>
          <a:noFill/>
          <a:ln/>
        </p:spPr>
        <p:txBody>
          <a:bodyPr wrap="square"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LLMs are deployed in longevity research — but nobody tested if they understand aging biology</a:t>
            </a:r>
            <a:endParaRPr lang="en-US" sz="2600" dirty="0"/>
          </a:p>
        </p:txBody>
      </p:sp>
      <p:sp>
        <p:nvSpPr>
          <p:cNvPr id="5" name="Shape 3"/>
          <p:cNvSpPr/>
          <p:nvPr/>
        </p:nvSpPr>
        <p:spPr>
          <a:xfrm>
            <a:off x="365760" y="1508760"/>
            <a:ext cx="2651760" cy="21945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8000"/>
              </a:srgbClr>
            </a:outerShdw>
          </a:effectLst>
        </p:spPr>
      </p:sp>
      <p:sp>
        <p:nvSpPr>
          <p:cNvPr id="6" name="Shape 4"/>
          <p:cNvSpPr/>
          <p:nvPr/>
        </p:nvSpPr>
        <p:spPr>
          <a:xfrm>
            <a:off x="502920" y="1645920"/>
            <a:ext cx="411480" cy="411480"/>
          </a:xfrm>
          <a:prstGeom prst="ellipse">
            <a:avLst/>
          </a:prstGeom>
          <a:solidFill>
            <a:srgbClr val="FEE2E2"/>
          </a:solidFill>
          <a:ln w="12700">
            <a:solidFill>
              <a:srgbClr val="FEE2E2"/>
            </a:solidFill>
            <a:prstDash val="solid"/>
          </a:ln>
        </p:spPr>
      </p:sp>
      <p:sp>
        <p:nvSpPr>
          <p:cNvPr id="7" name="Text 5"/>
          <p:cNvSpPr/>
          <p:nvPr/>
        </p:nvSpPr>
        <p:spPr>
          <a:xfrm>
            <a:off x="502920" y="1645920"/>
            <a:ext cx="411480" cy="411480"/>
          </a:xfrm>
          <a:prstGeom prst="rect">
            <a:avLst/>
          </a:prstGeom>
          <a:noFill/>
          <a:ln/>
        </p:spPr>
        <p:txBody>
          <a:bodyPr wrap="square" lIns="0" tIns="0" rIns="0" bIns="0" rtlCol="0" anchor="ctr"/>
          <a:lstStyle/>
          <a:p>
            <a:pPr algn="ctr" indent="0" marL="0">
              <a:buNone/>
            </a:pPr>
            <a:r>
              <a:rPr lang="en-US" sz="1600" b="1" dirty="0">
                <a:solidFill>
                  <a:srgbClr val="EF4444"/>
                </a:solidFill>
              </a:rPr>
              <a:t>×</a:t>
            </a:r>
            <a:endParaRPr lang="en-US" sz="1600" dirty="0"/>
          </a:p>
        </p:txBody>
      </p:sp>
      <p:sp>
        <p:nvSpPr>
          <p:cNvPr id="8" name="Text 6"/>
          <p:cNvSpPr/>
          <p:nvPr/>
        </p:nvSpPr>
        <p:spPr>
          <a:xfrm>
            <a:off x="502920" y="2148840"/>
            <a:ext cx="2377440" cy="32004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Clock confusion</a:t>
            </a:r>
            <a:endParaRPr lang="en-US" sz="1300" dirty="0"/>
          </a:p>
        </p:txBody>
      </p:sp>
      <p:sp>
        <p:nvSpPr>
          <p:cNvPr id="9" name="Text 7"/>
          <p:cNvSpPr/>
          <p:nvPr/>
        </p:nvSpPr>
        <p:spPr>
          <a:xfrm>
            <a:off x="502920" y="2514600"/>
            <a:ext cx="2423160" cy="105156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Models conflate Horvath biological age with GrimAge mortality risk — they measure different things</a:t>
            </a:r>
            <a:endParaRPr lang="en-US" sz="1100" dirty="0"/>
          </a:p>
        </p:txBody>
      </p:sp>
      <p:sp>
        <p:nvSpPr>
          <p:cNvPr id="10" name="Shape 8"/>
          <p:cNvSpPr/>
          <p:nvPr/>
        </p:nvSpPr>
        <p:spPr>
          <a:xfrm>
            <a:off x="3200400" y="1508760"/>
            <a:ext cx="2651760" cy="21945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8000"/>
              </a:srgbClr>
            </a:outerShdw>
          </a:effectLst>
        </p:spPr>
      </p:sp>
      <p:sp>
        <p:nvSpPr>
          <p:cNvPr id="11" name="Shape 9"/>
          <p:cNvSpPr/>
          <p:nvPr/>
        </p:nvSpPr>
        <p:spPr>
          <a:xfrm>
            <a:off x="3337560" y="1645920"/>
            <a:ext cx="411480" cy="411480"/>
          </a:xfrm>
          <a:prstGeom prst="ellipse">
            <a:avLst/>
          </a:prstGeom>
          <a:solidFill>
            <a:srgbClr val="FEE2E2"/>
          </a:solidFill>
          <a:ln w="12700">
            <a:solidFill>
              <a:srgbClr val="FEE2E2"/>
            </a:solidFill>
            <a:prstDash val="solid"/>
          </a:ln>
        </p:spPr>
      </p:sp>
      <p:sp>
        <p:nvSpPr>
          <p:cNvPr id="12" name="Text 10"/>
          <p:cNvSpPr/>
          <p:nvPr/>
        </p:nvSpPr>
        <p:spPr>
          <a:xfrm>
            <a:off x="3337560" y="1645920"/>
            <a:ext cx="411480" cy="411480"/>
          </a:xfrm>
          <a:prstGeom prst="rect">
            <a:avLst/>
          </a:prstGeom>
          <a:noFill/>
          <a:ln/>
        </p:spPr>
        <p:txBody>
          <a:bodyPr wrap="square" lIns="0" tIns="0" rIns="0" bIns="0" rtlCol="0" anchor="ctr"/>
          <a:lstStyle/>
          <a:p>
            <a:pPr algn="ctr" indent="0" marL="0">
              <a:buNone/>
            </a:pPr>
            <a:r>
              <a:rPr lang="en-US" sz="1600" b="1" dirty="0">
                <a:solidFill>
                  <a:srgbClr val="EF4444"/>
                </a:solidFill>
              </a:rPr>
              <a:t>×</a:t>
            </a:r>
            <a:endParaRPr lang="en-US" sz="1600" dirty="0"/>
          </a:p>
        </p:txBody>
      </p:sp>
      <p:sp>
        <p:nvSpPr>
          <p:cNvPr id="13" name="Text 11"/>
          <p:cNvSpPr/>
          <p:nvPr/>
        </p:nvSpPr>
        <p:spPr>
          <a:xfrm>
            <a:off x="3337560" y="2148840"/>
            <a:ext cx="2377440" cy="32004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Missed discordance</a:t>
            </a:r>
            <a:endParaRPr lang="en-US" sz="1300" dirty="0"/>
          </a:p>
        </p:txBody>
      </p:sp>
      <p:sp>
        <p:nvSpPr>
          <p:cNvPr id="14" name="Text 12"/>
          <p:cNvSpPr/>
          <p:nvPr/>
        </p:nvSpPr>
        <p:spPr>
          <a:xfrm>
            <a:off x="3337560" y="2514600"/>
            <a:ext cx="2423160" cy="105156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Critical patterns where clocks disagree are ignored — these carry the most clinical significance</a:t>
            </a:r>
            <a:endParaRPr lang="en-US" sz="1100" dirty="0"/>
          </a:p>
        </p:txBody>
      </p:sp>
      <p:sp>
        <p:nvSpPr>
          <p:cNvPr id="15" name="Shape 13"/>
          <p:cNvSpPr/>
          <p:nvPr/>
        </p:nvSpPr>
        <p:spPr>
          <a:xfrm>
            <a:off x="6035040" y="1508760"/>
            <a:ext cx="2651760" cy="21945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8000"/>
              </a:srgbClr>
            </a:outerShdw>
          </a:effectLst>
        </p:spPr>
      </p:sp>
      <p:sp>
        <p:nvSpPr>
          <p:cNvPr id="16" name="Shape 14"/>
          <p:cNvSpPr/>
          <p:nvPr/>
        </p:nvSpPr>
        <p:spPr>
          <a:xfrm>
            <a:off x="6172200" y="1645920"/>
            <a:ext cx="411480" cy="411480"/>
          </a:xfrm>
          <a:prstGeom prst="ellipse">
            <a:avLst/>
          </a:prstGeom>
          <a:solidFill>
            <a:srgbClr val="FEE2E2"/>
          </a:solidFill>
          <a:ln w="12700">
            <a:solidFill>
              <a:srgbClr val="FEE2E2"/>
            </a:solidFill>
            <a:prstDash val="solid"/>
          </a:ln>
        </p:spPr>
      </p:sp>
      <p:sp>
        <p:nvSpPr>
          <p:cNvPr id="17" name="Text 15"/>
          <p:cNvSpPr/>
          <p:nvPr/>
        </p:nvSpPr>
        <p:spPr>
          <a:xfrm>
            <a:off x="6172200" y="1645920"/>
            <a:ext cx="411480" cy="411480"/>
          </a:xfrm>
          <a:prstGeom prst="rect">
            <a:avLst/>
          </a:prstGeom>
          <a:noFill/>
          <a:ln/>
        </p:spPr>
        <p:txBody>
          <a:bodyPr wrap="square" lIns="0" tIns="0" rIns="0" bIns="0" rtlCol="0" anchor="ctr"/>
          <a:lstStyle/>
          <a:p>
            <a:pPr algn="ctr" indent="0" marL="0">
              <a:buNone/>
            </a:pPr>
            <a:r>
              <a:rPr lang="en-US" sz="1600" b="1" dirty="0">
                <a:solidFill>
                  <a:srgbClr val="EF4444"/>
                </a:solidFill>
              </a:rPr>
              <a:t>×</a:t>
            </a:r>
            <a:endParaRPr lang="en-US" sz="1600" dirty="0"/>
          </a:p>
        </p:txBody>
      </p:sp>
      <p:sp>
        <p:nvSpPr>
          <p:cNvPr id="18" name="Text 16"/>
          <p:cNvSpPr/>
          <p:nvPr/>
        </p:nvSpPr>
        <p:spPr>
          <a:xfrm>
            <a:off x="6172200" y="2148840"/>
            <a:ext cx="2377440" cy="32004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Confounder blindness</a:t>
            </a:r>
            <a:endParaRPr lang="en-US" sz="1300" dirty="0"/>
          </a:p>
        </p:txBody>
      </p:sp>
      <p:sp>
        <p:nvSpPr>
          <p:cNvPr id="19" name="Text 17"/>
          <p:cNvSpPr/>
          <p:nvPr/>
        </p:nvSpPr>
        <p:spPr>
          <a:xfrm>
            <a:off x="6172200" y="2514600"/>
            <a:ext cx="2423160" cy="105156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False alarms from infection, medication, or sample quality flagged as real accelerated aging</a:t>
            </a:r>
            <a:endParaRPr lang="en-US" sz="1100" dirty="0"/>
          </a:p>
        </p:txBody>
      </p:sp>
      <p:sp>
        <p:nvSpPr>
          <p:cNvPr id="20" name="Shape 18"/>
          <p:cNvSpPr/>
          <p:nvPr/>
        </p:nvSpPr>
        <p:spPr>
          <a:xfrm>
            <a:off x="365760" y="3886200"/>
            <a:ext cx="8412480" cy="868680"/>
          </a:xfrm>
          <a:prstGeom prst="rect">
            <a:avLst/>
          </a:prstGeom>
          <a:solidFill>
            <a:srgbClr val="FFF7ED"/>
          </a:solidFill>
          <a:ln w="12700">
            <a:solidFill>
              <a:srgbClr val="F97316"/>
            </a:solidFill>
            <a:prstDash val="solid"/>
          </a:ln>
        </p:spPr>
      </p:sp>
      <p:sp>
        <p:nvSpPr>
          <p:cNvPr id="21" name="Shape 19"/>
          <p:cNvSpPr/>
          <p:nvPr/>
        </p:nvSpPr>
        <p:spPr>
          <a:xfrm>
            <a:off x="365760" y="3886200"/>
            <a:ext cx="64008" cy="868680"/>
          </a:xfrm>
          <a:prstGeom prst="rect">
            <a:avLst/>
          </a:prstGeom>
          <a:solidFill>
            <a:srgbClr val="F97316"/>
          </a:solidFill>
          <a:ln w="12700">
            <a:solidFill>
              <a:srgbClr val="F97316"/>
            </a:solidFill>
            <a:prstDash val="solid"/>
          </a:ln>
        </p:spPr>
      </p:sp>
      <p:sp>
        <p:nvSpPr>
          <p:cNvPr id="22" name="Text 20"/>
          <p:cNvSpPr/>
          <p:nvPr/>
        </p:nvSpPr>
        <p:spPr>
          <a:xfrm>
            <a:off x="594360" y="3931920"/>
            <a:ext cx="8046720" cy="777240"/>
          </a:xfrm>
          <a:prstGeom prst="rect">
            <a:avLst/>
          </a:prstGeom>
          <a:noFill/>
          <a:ln/>
        </p:spPr>
        <p:txBody>
          <a:bodyPr wrap="square" rtlCol="0" anchor="ctr"/>
          <a:lstStyle/>
          <a:p>
            <a:pPr indent="0" marL="0">
              <a:buNone/>
            </a:pPr>
            <a:r>
              <a:rPr lang="en-US" sz="1200" i="1" dirty="0">
                <a:solidFill>
                  <a:srgbClr val="92400E"/>
                </a:solidFill>
                <a:latin typeface="Calibri" pitchFamily="34" charset="0"/>
                <a:ea typeface="Calibri" pitchFamily="34" charset="-122"/>
                <a:cs typeface="Calibri" pitchFamily="34" charset="-120"/>
              </a:rPr>
              <a:t>Real consequence: An AI misreading a confounder could falsely flag a patient as having accelerated aging — causing alarm, wrong treatment, and loss of trust in the technology.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37160"/>
            <a:ext cx="2743200" cy="274320"/>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THE SOLUTION</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Epigenetic Clock Reasoning Bench</a:t>
            </a:r>
            <a:endParaRPr lang="en-US" sz="3000" dirty="0"/>
          </a:p>
        </p:txBody>
      </p:sp>
      <p:sp>
        <p:nvSpPr>
          <p:cNvPr id="5" name="Text 3"/>
          <p:cNvSpPr/>
          <p:nvPr/>
        </p:nvSpPr>
        <p:spPr>
          <a:xfrm>
            <a:off x="457200" y="1051560"/>
            <a:ext cx="8229600" cy="320040"/>
          </a:xfrm>
          <a:prstGeom prst="rect">
            <a:avLst/>
          </a:prstGeom>
          <a:noFill/>
          <a:ln/>
        </p:spPr>
        <p:txBody>
          <a:bodyPr wrap="square" rtlCol="0" anchor="ctr"/>
          <a:lstStyle/>
          <a:p>
            <a:pPr indent="0" marL="0">
              <a:buNone/>
            </a:pPr>
            <a:r>
              <a:rPr lang="en-US" sz="1500" dirty="0">
                <a:solidFill>
                  <a:srgbClr val="94A3B8"/>
                </a:solidFill>
                <a:latin typeface="Calibri" pitchFamily="34" charset="0"/>
                <a:ea typeface="Calibri" pitchFamily="34" charset="-122"/>
                <a:cs typeface="Calibri" pitchFamily="34" charset="-120"/>
              </a:rPr>
              <a:t>A three-stage pipeline: simulate → generate → evaluate</a:t>
            </a:r>
            <a:endParaRPr lang="en-US" sz="1500" dirty="0"/>
          </a:p>
        </p:txBody>
      </p:sp>
      <p:sp>
        <p:nvSpPr>
          <p:cNvPr id="6" name="Shape 4"/>
          <p:cNvSpPr/>
          <p:nvPr/>
        </p:nvSpPr>
        <p:spPr>
          <a:xfrm>
            <a:off x="320040" y="1508760"/>
            <a:ext cx="2697480" cy="3200400"/>
          </a:xfrm>
          <a:prstGeom prst="rect">
            <a:avLst/>
          </a:prstGeom>
          <a:solidFill>
            <a:srgbClr val="152032"/>
          </a:solidFill>
          <a:ln w="12700">
            <a:solidFill>
              <a:srgbClr val="1E3A4A"/>
            </a:solidFill>
            <a:prstDash val="solid"/>
          </a:ln>
        </p:spPr>
      </p:sp>
      <p:sp>
        <p:nvSpPr>
          <p:cNvPr id="7" name="Shape 5"/>
          <p:cNvSpPr/>
          <p:nvPr/>
        </p:nvSpPr>
        <p:spPr>
          <a:xfrm>
            <a:off x="320040" y="1508760"/>
            <a:ext cx="2697480" cy="54864"/>
          </a:xfrm>
          <a:prstGeom prst="rect">
            <a:avLst/>
          </a:prstGeom>
          <a:solidFill>
            <a:srgbClr val="0D9488"/>
          </a:solidFill>
          <a:ln w="12700">
            <a:solidFill>
              <a:srgbClr val="0D9488"/>
            </a:solidFill>
            <a:prstDash val="solid"/>
          </a:ln>
        </p:spPr>
      </p:sp>
      <p:sp>
        <p:nvSpPr>
          <p:cNvPr id="8" name="Text 6"/>
          <p:cNvSpPr/>
          <p:nvPr/>
        </p:nvSpPr>
        <p:spPr>
          <a:xfrm>
            <a:off x="502920" y="1645920"/>
            <a:ext cx="914400" cy="457200"/>
          </a:xfrm>
          <a:prstGeom prst="rect">
            <a:avLst/>
          </a:prstGeom>
          <a:noFill/>
          <a:ln/>
        </p:spPr>
        <p:txBody>
          <a:bodyPr wrap="square"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01</a:t>
            </a:r>
            <a:endParaRPr lang="en-US" sz="2800" dirty="0"/>
          </a:p>
        </p:txBody>
      </p:sp>
      <p:sp>
        <p:nvSpPr>
          <p:cNvPr id="9" name="Text 7"/>
          <p:cNvSpPr/>
          <p:nvPr/>
        </p:nvSpPr>
        <p:spPr>
          <a:xfrm>
            <a:off x="502920" y="2084832"/>
            <a:ext cx="2377440" cy="3200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Simulate</a:t>
            </a:r>
            <a:endParaRPr lang="en-US" sz="1600" dirty="0"/>
          </a:p>
        </p:txBody>
      </p:sp>
      <p:sp>
        <p:nvSpPr>
          <p:cNvPr id="10" name="Text 8"/>
          <p:cNvSpPr/>
          <p:nvPr/>
        </p:nvSpPr>
        <p:spPr>
          <a:xfrm>
            <a:off x="502920" y="2395728"/>
            <a:ext cx="2377440" cy="256032"/>
          </a:xfrm>
          <a:prstGeom prst="rect">
            <a:avLst/>
          </a:prstGeom>
          <a:noFill/>
          <a:ln/>
        </p:spPr>
        <p:txBody>
          <a:bodyPr wrap="square" rtlCol="0" anchor="ctr"/>
          <a:lstStyle/>
          <a:p>
            <a:pPr indent="0" marL="0">
              <a:buNone/>
            </a:pPr>
            <a:r>
              <a:rPr lang="en-US" sz="1000" dirty="0">
                <a:solidFill>
                  <a:srgbClr val="14B8A6"/>
                </a:solidFill>
                <a:latin typeface="Calibri" pitchFamily="34" charset="0"/>
                <a:ea typeface="Calibri" pitchFamily="34" charset="-122"/>
                <a:cs typeface="Calibri" pitchFamily="34" charset="-120"/>
              </a:rPr>
              <a:t>MESA Agent-Based Model</a:t>
            </a:r>
            <a:endParaRPr lang="en-US" sz="1000" dirty="0"/>
          </a:p>
        </p:txBody>
      </p:sp>
      <p:sp>
        <p:nvSpPr>
          <p:cNvPr id="11" name="Shape 9"/>
          <p:cNvSpPr/>
          <p:nvPr/>
        </p:nvSpPr>
        <p:spPr>
          <a:xfrm>
            <a:off x="502920" y="2715768"/>
            <a:ext cx="2331720" cy="18288"/>
          </a:xfrm>
          <a:prstGeom prst="rect">
            <a:avLst/>
          </a:prstGeom>
          <a:solidFill>
            <a:srgbClr val="1E3A4A"/>
          </a:solidFill>
          <a:ln w="12700">
            <a:solidFill>
              <a:srgbClr val="1E3A4A"/>
            </a:solidFill>
            <a:prstDash val="solid"/>
          </a:ln>
        </p:spPr>
      </p:sp>
      <p:sp>
        <p:nvSpPr>
          <p:cNvPr id="12" name="Text 10"/>
          <p:cNvSpPr/>
          <p:nvPr/>
        </p:nvSpPr>
        <p:spPr>
          <a:xfrm>
            <a:off x="502920" y="2834640"/>
            <a:ext cx="2423160" cy="347472"/>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a:t>
            </a:r>
            <a:pPr indent="0" marL="0">
              <a:buNone/>
            </a:pPr>
            <a:r>
              <a:rPr lang="en-US" sz="1050" dirty="0">
                <a:solidFill>
                  <a:srgbClr val="94A3B8"/>
                </a:solidFill>
                <a:latin typeface="Calibri" pitchFamily="34" charset="0"/>
                <a:ea typeface="Calibri" pitchFamily="34" charset="-122"/>
                <a:cs typeface="Calibri" pitchFamily="34" charset="-120"/>
              </a:rPr>
              <a:t>30×30 grid, 900 cells</a:t>
            </a:r>
            <a:endParaRPr lang="en-US" sz="1050" dirty="0"/>
          </a:p>
        </p:txBody>
      </p:sp>
      <p:sp>
        <p:nvSpPr>
          <p:cNvPr id="13" name="Text 11"/>
          <p:cNvSpPr/>
          <p:nvPr/>
        </p:nvSpPr>
        <p:spPr>
          <a:xfrm>
            <a:off x="502920" y="3200400"/>
            <a:ext cx="2423160" cy="347472"/>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a:t>
            </a:r>
            <a:pPr indent="0" marL="0">
              <a:buNone/>
            </a:pPr>
            <a:r>
              <a:rPr lang="en-US" sz="1050" dirty="0">
                <a:solidFill>
                  <a:srgbClr val="94A3B8"/>
                </a:solidFill>
                <a:latin typeface="Calibri" pitchFamily="34" charset="0"/>
                <a:ea typeface="Calibri" pitchFamily="34" charset="-122"/>
                <a:cs typeface="Calibri" pitchFamily="34" charset="-120"/>
              </a:rPr>
              <a:t>Each cell: methylation, damage, telomere, senescence</a:t>
            </a:r>
            <a:endParaRPr lang="en-US" sz="1050" dirty="0"/>
          </a:p>
        </p:txBody>
      </p:sp>
      <p:sp>
        <p:nvSpPr>
          <p:cNvPr id="14" name="Text 12"/>
          <p:cNvSpPr/>
          <p:nvPr/>
        </p:nvSpPr>
        <p:spPr>
          <a:xfrm>
            <a:off x="502920" y="3566160"/>
            <a:ext cx="2423160" cy="347472"/>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a:t>
            </a:r>
            <a:pPr indent="0" marL="0">
              <a:buNone/>
            </a:pPr>
            <a:r>
              <a:rPr lang="en-US" sz="1050" dirty="0">
                <a:solidFill>
                  <a:srgbClr val="94A3B8"/>
                </a:solidFill>
                <a:latin typeface="Calibri" pitchFamily="34" charset="0"/>
                <a:ea typeface="Calibri" pitchFamily="34" charset="-122"/>
                <a:cs typeface="Calibri" pitchFamily="34" charset="-120"/>
              </a:rPr>
              <a:t>SASP spreads to neighbors — biologically real cascade</a:t>
            </a:r>
            <a:endParaRPr lang="en-US" sz="1050" dirty="0"/>
          </a:p>
        </p:txBody>
      </p:sp>
      <p:sp>
        <p:nvSpPr>
          <p:cNvPr id="15" name="Text 13"/>
          <p:cNvSpPr/>
          <p:nvPr/>
        </p:nvSpPr>
        <p:spPr>
          <a:xfrm>
            <a:off x="502920" y="3931920"/>
            <a:ext cx="2423160" cy="347472"/>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a:t>
            </a:r>
            <a:pPr indent="0" marL="0">
              <a:buNone/>
            </a:pPr>
            <a:r>
              <a:rPr lang="en-US" sz="1050" dirty="0">
                <a:solidFill>
                  <a:srgbClr val="94A3B8"/>
                </a:solidFill>
                <a:latin typeface="Calibri" pitchFamily="34" charset="0"/>
                <a:ea typeface="Calibri" pitchFamily="34" charset="-122"/>
                <a:cs typeface="Calibri" pitchFamily="34" charset="-120"/>
              </a:rPr>
              <a:t>Calibrated on 656 real human blood samples</a:t>
            </a:r>
            <a:endParaRPr lang="en-US" sz="1050" dirty="0"/>
          </a:p>
        </p:txBody>
      </p:sp>
      <p:sp>
        <p:nvSpPr>
          <p:cNvPr id="16" name="Shape 14"/>
          <p:cNvSpPr/>
          <p:nvPr/>
        </p:nvSpPr>
        <p:spPr>
          <a:xfrm>
            <a:off x="3200400" y="1508760"/>
            <a:ext cx="2697480" cy="3200400"/>
          </a:xfrm>
          <a:prstGeom prst="rect">
            <a:avLst/>
          </a:prstGeom>
          <a:solidFill>
            <a:srgbClr val="152032"/>
          </a:solidFill>
          <a:ln w="12700">
            <a:solidFill>
              <a:srgbClr val="1E3A4A"/>
            </a:solidFill>
            <a:prstDash val="solid"/>
          </a:ln>
        </p:spPr>
      </p:sp>
      <p:sp>
        <p:nvSpPr>
          <p:cNvPr id="17" name="Shape 15"/>
          <p:cNvSpPr/>
          <p:nvPr/>
        </p:nvSpPr>
        <p:spPr>
          <a:xfrm>
            <a:off x="3200400" y="1508760"/>
            <a:ext cx="2697480" cy="54864"/>
          </a:xfrm>
          <a:prstGeom prst="rect">
            <a:avLst/>
          </a:prstGeom>
          <a:solidFill>
            <a:srgbClr val="0D9488"/>
          </a:solidFill>
          <a:ln w="12700">
            <a:solidFill>
              <a:srgbClr val="0D9488"/>
            </a:solidFill>
            <a:prstDash val="solid"/>
          </a:ln>
        </p:spPr>
      </p:sp>
      <p:sp>
        <p:nvSpPr>
          <p:cNvPr id="18" name="Text 16"/>
          <p:cNvSpPr/>
          <p:nvPr/>
        </p:nvSpPr>
        <p:spPr>
          <a:xfrm>
            <a:off x="3383280" y="1645920"/>
            <a:ext cx="914400" cy="457200"/>
          </a:xfrm>
          <a:prstGeom prst="rect">
            <a:avLst/>
          </a:prstGeom>
          <a:noFill/>
          <a:ln/>
        </p:spPr>
        <p:txBody>
          <a:bodyPr wrap="square"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02</a:t>
            </a:r>
            <a:endParaRPr lang="en-US" sz="2800" dirty="0"/>
          </a:p>
        </p:txBody>
      </p:sp>
      <p:sp>
        <p:nvSpPr>
          <p:cNvPr id="19" name="Text 17"/>
          <p:cNvSpPr/>
          <p:nvPr/>
        </p:nvSpPr>
        <p:spPr>
          <a:xfrm>
            <a:off x="3383280" y="2084832"/>
            <a:ext cx="2377440" cy="3200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Generate</a:t>
            </a:r>
            <a:endParaRPr lang="en-US" sz="1600" dirty="0"/>
          </a:p>
        </p:txBody>
      </p:sp>
      <p:sp>
        <p:nvSpPr>
          <p:cNvPr id="20" name="Text 18"/>
          <p:cNvSpPr/>
          <p:nvPr/>
        </p:nvSpPr>
        <p:spPr>
          <a:xfrm>
            <a:off x="3383280" y="2395728"/>
            <a:ext cx="2377440" cy="256032"/>
          </a:xfrm>
          <a:prstGeom prst="rect">
            <a:avLst/>
          </a:prstGeom>
          <a:noFill/>
          <a:ln/>
        </p:spPr>
        <p:txBody>
          <a:bodyPr wrap="square" rtlCol="0" anchor="ctr"/>
          <a:lstStyle/>
          <a:p>
            <a:pPr indent="0" marL="0">
              <a:buNone/>
            </a:pPr>
            <a:r>
              <a:rPr lang="en-US" sz="1000" dirty="0">
                <a:solidFill>
                  <a:srgbClr val="14B8A6"/>
                </a:solidFill>
                <a:latin typeface="Calibri" pitchFamily="34" charset="0"/>
                <a:ea typeface="Calibri" pitchFamily="34" charset="-122"/>
                <a:cs typeface="Calibri" pitchFamily="34" charset="-120"/>
              </a:rPr>
              <a:t>Claude API + Algorithms</a:t>
            </a:r>
            <a:endParaRPr lang="en-US" sz="1000" dirty="0"/>
          </a:p>
        </p:txBody>
      </p:sp>
      <p:sp>
        <p:nvSpPr>
          <p:cNvPr id="21" name="Shape 19"/>
          <p:cNvSpPr/>
          <p:nvPr/>
        </p:nvSpPr>
        <p:spPr>
          <a:xfrm>
            <a:off x="3383280" y="2715768"/>
            <a:ext cx="2331720" cy="18288"/>
          </a:xfrm>
          <a:prstGeom prst="rect">
            <a:avLst/>
          </a:prstGeom>
          <a:solidFill>
            <a:srgbClr val="1E3A4A"/>
          </a:solidFill>
          <a:ln w="12700">
            <a:solidFill>
              <a:srgbClr val="1E3A4A"/>
            </a:solidFill>
            <a:prstDash val="solid"/>
          </a:ln>
        </p:spPr>
      </p:sp>
      <p:sp>
        <p:nvSpPr>
          <p:cNvPr id="22" name="Text 20"/>
          <p:cNvSpPr/>
          <p:nvPr/>
        </p:nvSpPr>
        <p:spPr>
          <a:xfrm>
            <a:off x="3383280" y="2834640"/>
            <a:ext cx="2423160" cy="347472"/>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a:t>
            </a:r>
            <a:pPr indent="0" marL="0">
              <a:buNone/>
            </a:pPr>
            <a:r>
              <a:rPr lang="en-US" sz="1050" dirty="0">
                <a:solidFill>
                  <a:srgbClr val="94A3B8"/>
                </a:solidFill>
                <a:latin typeface="Calibri" pitchFamily="34" charset="0"/>
                <a:ea typeface="Calibri" pitchFamily="34" charset="-122"/>
                <a:cs typeface="Calibri" pitchFamily="34" charset="-120"/>
              </a:rPr>
              <a:t>Simulation → clinical vignette via Claude Haiku</a:t>
            </a:r>
            <a:endParaRPr lang="en-US" sz="1050" dirty="0"/>
          </a:p>
        </p:txBody>
      </p:sp>
      <p:sp>
        <p:nvSpPr>
          <p:cNvPr id="23" name="Text 21"/>
          <p:cNvSpPr/>
          <p:nvPr/>
        </p:nvSpPr>
        <p:spPr>
          <a:xfrm>
            <a:off x="3383280" y="3200400"/>
            <a:ext cx="2423160" cy="347472"/>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a:t>
            </a:r>
            <a:pPr indent="0" marL="0">
              <a:buNone/>
            </a:pPr>
            <a:r>
              <a:rPr lang="en-US" sz="1050" dirty="0">
                <a:solidFill>
                  <a:srgbClr val="94A3B8"/>
                </a:solidFill>
                <a:latin typeface="Calibri" pitchFamily="34" charset="0"/>
                <a:ea typeface="Calibri" pitchFamily="34" charset="-122"/>
                <a:cs typeface="Calibri" pitchFamily="34" charset="-120"/>
              </a:rPr>
              <a:t>Ground truth computed from math — zero human annotation</a:t>
            </a:r>
            <a:endParaRPr lang="en-US" sz="1050" dirty="0"/>
          </a:p>
        </p:txBody>
      </p:sp>
      <p:sp>
        <p:nvSpPr>
          <p:cNvPr id="24" name="Text 22"/>
          <p:cNvSpPr/>
          <p:nvPr/>
        </p:nvSpPr>
        <p:spPr>
          <a:xfrm>
            <a:off x="3383280" y="3566160"/>
            <a:ext cx="2423160" cy="347472"/>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a:t>
            </a:r>
            <a:pPr indent="0" marL="0">
              <a:buNone/>
            </a:pPr>
            <a:r>
              <a:rPr lang="en-US" sz="1050" dirty="0">
                <a:solidFill>
                  <a:srgbClr val="94A3B8"/>
                </a:solidFill>
                <a:latin typeface="Calibri" pitchFamily="34" charset="0"/>
                <a:ea typeface="Calibri" pitchFamily="34" charset="-122"/>
                <a:cs typeface="Calibri" pitchFamily="34" charset="-120"/>
              </a:rPr>
              <a:t>4 task categories, varied patient ages &amp; tissue types</a:t>
            </a:r>
            <a:endParaRPr lang="en-US" sz="1050" dirty="0"/>
          </a:p>
        </p:txBody>
      </p:sp>
      <p:sp>
        <p:nvSpPr>
          <p:cNvPr id="25" name="Text 23"/>
          <p:cNvSpPr/>
          <p:nvPr/>
        </p:nvSpPr>
        <p:spPr>
          <a:xfrm>
            <a:off x="3383280" y="3931920"/>
            <a:ext cx="2423160" cy="347472"/>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a:t>
            </a:r>
            <a:pPr indent="0" marL="0">
              <a:buNone/>
            </a:pPr>
            <a:r>
              <a:rPr lang="en-US" sz="1050" dirty="0">
                <a:solidFill>
                  <a:srgbClr val="94A3B8"/>
                </a:solidFill>
                <a:latin typeface="Calibri" pitchFamily="34" charset="0"/>
                <a:ea typeface="Calibri" pitchFamily="34" charset="-122"/>
                <a:cs typeface="Calibri" pitchFamily="34" charset="-120"/>
              </a:rPr>
              <a:t>Infinite scalability — each run = one new scenario</a:t>
            </a:r>
            <a:endParaRPr lang="en-US" sz="1050" dirty="0"/>
          </a:p>
        </p:txBody>
      </p:sp>
      <p:sp>
        <p:nvSpPr>
          <p:cNvPr id="26" name="Shape 24"/>
          <p:cNvSpPr/>
          <p:nvPr/>
        </p:nvSpPr>
        <p:spPr>
          <a:xfrm>
            <a:off x="6080760" y="1508760"/>
            <a:ext cx="2697480" cy="3200400"/>
          </a:xfrm>
          <a:prstGeom prst="rect">
            <a:avLst/>
          </a:prstGeom>
          <a:solidFill>
            <a:srgbClr val="152032"/>
          </a:solidFill>
          <a:ln w="12700">
            <a:solidFill>
              <a:srgbClr val="1E3A4A"/>
            </a:solidFill>
            <a:prstDash val="solid"/>
          </a:ln>
        </p:spPr>
      </p:sp>
      <p:sp>
        <p:nvSpPr>
          <p:cNvPr id="27" name="Shape 25"/>
          <p:cNvSpPr/>
          <p:nvPr/>
        </p:nvSpPr>
        <p:spPr>
          <a:xfrm>
            <a:off x="6080760" y="1508760"/>
            <a:ext cx="2697480" cy="54864"/>
          </a:xfrm>
          <a:prstGeom prst="rect">
            <a:avLst/>
          </a:prstGeom>
          <a:solidFill>
            <a:srgbClr val="0D9488"/>
          </a:solidFill>
          <a:ln w="12700">
            <a:solidFill>
              <a:srgbClr val="0D9488"/>
            </a:solidFill>
            <a:prstDash val="solid"/>
          </a:ln>
        </p:spPr>
      </p:sp>
      <p:sp>
        <p:nvSpPr>
          <p:cNvPr id="28" name="Text 26"/>
          <p:cNvSpPr/>
          <p:nvPr/>
        </p:nvSpPr>
        <p:spPr>
          <a:xfrm>
            <a:off x="6263640" y="1645920"/>
            <a:ext cx="914400" cy="457200"/>
          </a:xfrm>
          <a:prstGeom prst="rect">
            <a:avLst/>
          </a:prstGeom>
          <a:noFill/>
          <a:ln/>
        </p:spPr>
        <p:txBody>
          <a:bodyPr wrap="square" rtlCol="0" anchor="ctr"/>
          <a:lstStyle/>
          <a:p>
            <a:pPr indent="0" marL="0">
              <a:buNone/>
            </a:pPr>
            <a:r>
              <a:rPr lang="en-US" sz="2800" b="1" dirty="0">
                <a:solidFill>
                  <a:srgbClr val="0D9488"/>
                </a:solidFill>
                <a:latin typeface="Calibri" pitchFamily="34" charset="0"/>
                <a:ea typeface="Calibri" pitchFamily="34" charset="-122"/>
                <a:cs typeface="Calibri" pitchFamily="34" charset="-120"/>
              </a:rPr>
              <a:t>03</a:t>
            </a:r>
            <a:endParaRPr lang="en-US" sz="2800" dirty="0"/>
          </a:p>
        </p:txBody>
      </p:sp>
      <p:sp>
        <p:nvSpPr>
          <p:cNvPr id="29" name="Text 27"/>
          <p:cNvSpPr/>
          <p:nvPr/>
        </p:nvSpPr>
        <p:spPr>
          <a:xfrm>
            <a:off x="6263640" y="2084832"/>
            <a:ext cx="2377440" cy="3200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Evaluate</a:t>
            </a:r>
            <a:endParaRPr lang="en-US" sz="1600" dirty="0"/>
          </a:p>
        </p:txBody>
      </p:sp>
      <p:sp>
        <p:nvSpPr>
          <p:cNvPr id="30" name="Text 28"/>
          <p:cNvSpPr/>
          <p:nvPr/>
        </p:nvSpPr>
        <p:spPr>
          <a:xfrm>
            <a:off x="6263640" y="2395728"/>
            <a:ext cx="2377440" cy="256032"/>
          </a:xfrm>
          <a:prstGeom prst="rect">
            <a:avLst/>
          </a:prstGeom>
          <a:noFill/>
          <a:ln/>
        </p:spPr>
        <p:txBody>
          <a:bodyPr wrap="square" rtlCol="0" anchor="ctr"/>
          <a:lstStyle/>
          <a:p>
            <a:pPr indent="0" marL="0">
              <a:buNone/>
            </a:pPr>
            <a:r>
              <a:rPr lang="en-US" sz="1000" dirty="0">
                <a:solidFill>
                  <a:srgbClr val="14B8A6"/>
                </a:solidFill>
                <a:latin typeface="Calibri" pitchFamily="34" charset="0"/>
                <a:ea typeface="Calibri" pitchFamily="34" charset="-122"/>
                <a:cs typeface="Calibri" pitchFamily="34" charset="-120"/>
              </a:rPr>
              <a:t>LLM Scoring Harness</a:t>
            </a:r>
            <a:endParaRPr lang="en-US" sz="1000" dirty="0"/>
          </a:p>
        </p:txBody>
      </p:sp>
      <p:sp>
        <p:nvSpPr>
          <p:cNvPr id="31" name="Shape 29"/>
          <p:cNvSpPr/>
          <p:nvPr/>
        </p:nvSpPr>
        <p:spPr>
          <a:xfrm>
            <a:off x="6263640" y="2715768"/>
            <a:ext cx="2331720" cy="18288"/>
          </a:xfrm>
          <a:prstGeom prst="rect">
            <a:avLst/>
          </a:prstGeom>
          <a:solidFill>
            <a:srgbClr val="1E3A4A"/>
          </a:solidFill>
          <a:ln w="12700">
            <a:solidFill>
              <a:srgbClr val="1E3A4A"/>
            </a:solidFill>
            <a:prstDash val="solid"/>
          </a:ln>
        </p:spPr>
      </p:sp>
      <p:sp>
        <p:nvSpPr>
          <p:cNvPr id="32" name="Text 30"/>
          <p:cNvSpPr/>
          <p:nvPr/>
        </p:nvSpPr>
        <p:spPr>
          <a:xfrm>
            <a:off x="6263640" y="2834640"/>
            <a:ext cx="2423160" cy="347472"/>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a:t>
            </a:r>
            <a:pPr indent="0" marL="0">
              <a:buNone/>
            </a:pPr>
            <a:r>
              <a:rPr lang="en-US" sz="1050" dirty="0">
                <a:solidFill>
                  <a:srgbClr val="94A3B8"/>
                </a:solidFill>
                <a:latin typeface="Calibri" pitchFamily="34" charset="0"/>
                <a:ea typeface="Calibri" pitchFamily="34" charset="-122"/>
                <a:cs typeface="Calibri" pitchFamily="34" charset="-120"/>
              </a:rPr>
              <a:t>Send questions to Claude Sonnet 4.6 &amp; BioLLM</a:t>
            </a:r>
            <a:endParaRPr lang="en-US" sz="1050" dirty="0"/>
          </a:p>
        </p:txBody>
      </p:sp>
      <p:sp>
        <p:nvSpPr>
          <p:cNvPr id="33" name="Text 31"/>
          <p:cNvSpPr/>
          <p:nvPr/>
        </p:nvSpPr>
        <p:spPr>
          <a:xfrm>
            <a:off x="6263640" y="3200400"/>
            <a:ext cx="2423160" cy="347472"/>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a:t>
            </a:r>
            <a:pPr indent="0" marL="0">
              <a:buNone/>
            </a:pPr>
            <a:r>
              <a:rPr lang="en-US" sz="1050" dirty="0">
                <a:solidFill>
                  <a:srgbClr val="94A3B8"/>
                </a:solidFill>
                <a:latin typeface="Calibri" pitchFamily="34" charset="0"/>
                <a:ea typeface="Calibri" pitchFamily="34" charset="-122"/>
                <a:cs typeface="Calibri" pitchFamily="34" charset="-120"/>
              </a:rPr>
              <a:t>Parse structured JSON responses</a:t>
            </a:r>
            <a:endParaRPr lang="en-US" sz="1050" dirty="0"/>
          </a:p>
        </p:txBody>
      </p:sp>
      <p:sp>
        <p:nvSpPr>
          <p:cNvPr id="34" name="Text 32"/>
          <p:cNvSpPr/>
          <p:nvPr/>
        </p:nvSpPr>
        <p:spPr>
          <a:xfrm>
            <a:off x="6263640" y="3566160"/>
            <a:ext cx="2423160" cy="347472"/>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a:t>
            </a:r>
            <a:pPr indent="0" marL="0">
              <a:buNone/>
            </a:pPr>
            <a:r>
              <a:rPr lang="en-US" sz="1050" dirty="0">
                <a:solidFill>
                  <a:srgbClr val="94A3B8"/>
                </a:solidFill>
                <a:latin typeface="Calibri" pitchFamily="34" charset="0"/>
                <a:ea typeface="Calibri" pitchFamily="34" charset="-122"/>
                <a:cs typeface="Calibri" pitchFamily="34" charset="-120"/>
              </a:rPr>
              <a:t>Score 5 biological reasoning dimensions</a:t>
            </a:r>
            <a:endParaRPr lang="en-US" sz="1050" dirty="0"/>
          </a:p>
        </p:txBody>
      </p:sp>
      <p:sp>
        <p:nvSpPr>
          <p:cNvPr id="35" name="Text 33"/>
          <p:cNvSpPr/>
          <p:nvPr/>
        </p:nvSpPr>
        <p:spPr>
          <a:xfrm>
            <a:off x="6263640" y="3931920"/>
            <a:ext cx="2423160" cy="347472"/>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a:t>
            </a:r>
            <a:pPr indent="0" marL="0">
              <a:buNone/>
            </a:pPr>
            <a:r>
              <a:rPr lang="en-US" sz="1050" dirty="0">
                <a:solidFill>
                  <a:srgbClr val="94A3B8"/>
                </a:solidFill>
                <a:latin typeface="Calibri" pitchFamily="34" charset="0"/>
                <a:ea typeface="Calibri" pitchFamily="34" charset="-122"/>
                <a:cs typeface="Calibri" pitchFamily="34" charset="-120"/>
              </a:rPr>
              <a:t>Output leaderboard.csv + per-scenario details</a:t>
            </a:r>
            <a:endParaRPr lang="en-US" sz="1050" dirty="0"/>
          </a:p>
        </p:txBody>
      </p:sp>
      <p:sp>
        <p:nvSpPr>
          <p:cNvPr id="36" name="Shape 34"/>
          <p:cNvSpPr/>
          <p:nvPr/>
        </p:nvSpPr>
        <p:spPr>
          <a:xfrm>
            <a:off x="3154680" y="3017520"/>
            <a:ext cx="54864" cy="320040"/>
          </a:xfrm>
          <a:prstGeom prst="rect">
            <a:avLst/>
          </a:prstGeom>
          <a:solidFill>
            <a:srgbClr val="0D9488"/>
          </a:solidFill>
          <a:ln w="12700">
            <a:solidFill>
              <a:srgbClr val="0D9488"/>
            </a:solidFill>
            <a:prstDash val="solid"/>
          </a:ln>
        </p:spPr>
      </p:sp>
      <p:sp>
        <p:nvSpPr>
          <p:cNvPr id="37" name="Shape 35"/>
          <p:cNvSpPr/>
          <p:nvPr/>
        </p:nvSpPr>
        <p:spPr>
          <a:xfrm>
            <a:off x="6035040" y="3017520"/>
            <a:ext cx="54864" cy="320040"/>
          </a:xfrm>
          <a:prstGeom prst="rect">
            <a:avLst/>
          </a:prstGeom>
          <a:solidFill>
            <a:srgbClr val="0D9488"/>
          </a:solidFill>
          <a:ln w="12700">
            <a:solidFill>
              <a:srgbClr val="0D948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37160"/>
            <a:ext cx="2743200" cy="274320"/>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THE SCIENCE</a:t>
            </a:r>
            <a:endParaRPr lang="en-US" sz="900" dirty="0"/>
          </a:p>
        </p:txBody>
      </p:sp>
      <p:sp>
        <p:nvSpPr>
          <p:cNvPr id="4" name="Text 2"/>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Calibrated against real human methylation data</a:t>
            </a:r>
            <a:endParaRPr lang="en-US" sz="2600" dirty="0"/>
          </a:p>
        </p:txBody>
      </p:sp>
      <p:sp>
        <p:nvSpPr>
          <p:cNvPr id="5" name="Shape 3"/>
          <p:cNvSpPr/>
          <p:nvPr/>
        </p:nvSpPr>
        <p:spPr>
          <a:xfrm>
            <a:off x="365760" y="1143000"/>
            <a:ext cx="4114800" cy="35661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8000"/>
              </a:srgbClr>
            </a:outerShdw>
          </a:effectLst>
        </p:spPr>
      </p:sp>
      <p:sp>
        <p:nvSpPr>
          <p:cNvPr id="6" name="Text 4"/>
          <p:cNvSpPr/>
          <p:nvPr/>
        </p:nvSpPr>
        <p:spPr>
          <a:xfrm>
            <a:off x="548640" y="1280160"/>
            <a:ext cx="3749040" cy="32004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Three Epigenetic Clocks Tested</a:t>
            </a:r>
            <a:endParaRPr lang="en-US" sz="1300" dirty="0"/>
          </a:p>
        </p:txBody>
      </p:sp>
      <p:sp>
        <p:nvSpPr>
          <p:cNvPr id="7" name="Shape 5"/>
          <p:cNvSpPr/>
          <p:nvPr/>
        </p:nvSpPr>
        <p:spPr>
          <a:xfrm>
            <a:off x="548640" y="1737360"/>
            <a:ext cx="3749040" cy="777240"/>
          </a:xfrm>
          <a:prstGeom prst="rect">
            <a:avLst/>
          </a:prstGeom>
          <a:solidFill>
            <a:srgbClr val="F8FAFC"/>
          </a:solidFill>
          <a:ln w="12700">
            <a:solidFill>
              <a:srgbClr val="E2E8F0"/>
            </a:solidFill>
            <a:prstDash val="solid"/>
          </a:ln>
        </p:spPr>
      </p:sp>
      <p:sp>
        <p:nvSpPr>
          <p:cNvPr id="8" name="Shape 6"/>
          <p:cNvSpPr/>
          <p:nvPr/>
        </p:nvSpPr>
        <p:spPr>
          <a:xfrm>
            <a:off x="548640" y="1737360"/>
            <a:ext cx="54864" cy="777240"/>
          </a:xfrm>
          <a:prstGeom prst="rect">
            <a:avLst/>
          </a:prstGeom>
          <a:solidFill>
            <a:srgbClr val="3B82F6"/>
          </a:solidFill>
          <a:ln w="12700">
            <a:solidFill>
              <a:srgbClr val="3B82F6"/>
            </a:solidFill>
            <a:prstDash val="solid"/>
          </a:ln>
        </p:spPr>
      </p:sp>
      <p:sp>
        <p:nvSpPr>
          <p:cNvPr id="9" name="Text 7"/>
          <p:cNvSpPr/>
          <p:nvPr/>
        </p:nvSpPr>
        <p:spPr>
          <a:xfrm>
            <a:off x="731520" y="1783080"/>
            <a:ext cx="3474720" cy="256032"/>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Horvath (2013)</a:t>
            </a:r>
            <a:endParaRPr lang="en-US" sz="1200" dirty="0"/>
          </a:p>
        </p:txBody>
      </p:sp>
      <p:sp>
        <p:nvSpPr>
          <p:cNvPr id="10" name="Text 8"/>
          <p:cNvSpPr/>
          <p:nvPr/>
        </p:nvSpPr>
        <p:spPr>
          <a:xfrm>
            <a:off x="731520" y="2029968"/>
            <a:ext cx="3474720" cy="41148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Pan-tissue biological age from 353 CpG sites. The original clock — general aging baseline.</a:t>
            </a:r>
            <a:endParaRPr lang="en-US" sz="1000" dirty="0"/>
          </a:p>
        </p:txBody>
      </p:sp>
      <p:sp>
        <p:nvSpPr>
          <p:cNvPr id="11" name="Shape 9"/>
          <p:cNvSpPr/>
          <p:nvPr/>
        </p:nvSpPr>
        <p:spPr>
          <a:xfrm>
            <a:off x="548640" y="2697480"/>
            <a:ext cx="3749040" cy="777240"/>
          </a:xfrm>
          <a:prstGeom prst="rect">
            <a:avLst/>
          </a:prstGeom>
          <a:solidFill>
            <a:srgbClr val="F8FAFC"/>
          </a:solidFill>
          <a:ln w="12700">
            <a:solidFill>
              <a:srgbClr val="E2E8F0"/>
            </a:solidFill>
            <a:prstDash val="solid"/>
          </a:ln>
        </p:spPr>
      </p:sp>
      <p:sp>
        <p:nvSpPr>
          <p:cNvPr id="12" name="Shape 10"/>
          <p:cNvSpPr/>
          <p:nvPr/>
        </p:nvSpPr>
        <p:spPr>
          <a:xfrm>
            <a:off x="548640" y="2697480"/>
            <a:ext cx="54864" cy="777240"/>
          </a:xfrm>
          <a:prstGeom prst="rect">
            <a:avLst/>
          </a:prstGeom>
          <a:solidFill>
            <a:srgbClr val="F97316"/>
          </a:solidFill>
          <a:ln w="12700">
            <a:solidFill>
              <a:srgbClr val="F97316"/>
            </a:solidFill>
            <a:prstDash val="solid"/>
          </a:ln>
        </p:spPr>
      </p:sp>
      <p:sp>
        <p:nvSpPr>
          <p:cNvPr id="13" name="Text 11"/>
          <p:cNvSpPr/>
          <p:nvPr/>
        </p:nvSpPr>
        <p:spPr>
          <a:xfrm>
            <a:off x="731520" y="2743200"/>
            <a:ext cx="3474720" cy="256032"/>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GrimAge (2019)</a:t>
            </a:r>
            <a:endParaRPr lang="en-US" sz="1200" dirty="0"/>
          </a:p>
        </p:txBody>
      </p:sp>
      <p:sp>
        <p:nvSpPr>
          <p:cNvPr id="14" name="Text 12"/>
          <p:cNvSpPr/>
          <p:nvPr/>
        </p:nvSpPr>
        <p:spPr>
          <a:xfrm>
            <a:off x="731520" y="2990088"/>
            <a:ext cx="3474720" cy="41148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Mortality risk via plasma protein proxies. Predicts lifespan, not just biological age.</a:t>
            </a:r>
            <a:endParaRPr lang="en-US" sz="1000" dirty="0"/>
          </a:p>
        </p:txBody>
      </p:sp>
      <p:sp>
        <p:nvSpPr>
          <p:cNvPr id="15" name="Shape 13"/>
          <p:cNvSpPr/>
          <p:nvPr/>
        </p:nvSpPr>
        <p:spPr>
          <a:xfrm>
            <a:off x="548640" y="3657600"/>
            <a:ext cx="3749040" cy="777240"/>
          </a:xfrm>
          <a:prstGeom prst="rect">
            <a:avLst/>
          </a:prstGeom>
          <a:solidFill>
            <a:srgbClr val="F8FAFC"/>
          </a:solidFill>
          <a:ln w="12700">
            <a:solidFill>
              <a:srgbClr val="E2E8F0"/>
            </a:solidFill>
            <a:prstDash val="solid"/>
          </a:ln>
        </p:spPr>
      </p:sp>
      <p:sp>
        <p:nvSpPr>
          <p:cNvPr id="16" name="Shape 14"/>
          <p:cNvSpPr/>
          <p:nvPr/>
        </p:nvSpPr>
        <p:spPr>
          <a:xfrm>
            <a:off x="548640" y="3657600"/>
            <a:ext cx="54864" cy="777240"/>
          </a:xfrm>
          <a:prstGeom prst="rect">
            <a:avLst/>
          </a:prstGeom>
          <a:solidFill>
            <a:srgbClr val="0D9488"/>
          </a:solidFill>
          <a:ln w="12700">
            <a:solidFill>
              <a:srgbClr val="0D9488"/>
            </a:solidFill>
            <a:prstDash val="solid"/>
          </a:ln>
        </p:spPr>
      </p:sp>
      <p:sp>
        <p:nvSpPr>
          <p:cNvPr id="17" name="Text 15"/>
          <p:cNvSpPr/>
          <p:nvPr/>
        </p:nvSpPr>
        <p:spPr>
          <a:xfrm>
            <a:off x="731520" y="3703320"/>
            <a:ext cx="3474720" cy="256032"/>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DunedinPACE (2022)</a:t>
            </a:r>
            <a:endParaRPr lang="en-US" sz="1200" dirty="0"/>
          </a:p>
        </p:txBody>
      </p:sp>
      <p:sp>
        <p:nvSpPr>
          <p:cNvPr id="18" name="Text 16"/>
          <p:cNvSpPr/>
          <p:nvPr/>
        </p:nvSpPr>
        <p:spPr>
          <a:xfrm>
            <a:off x="731520" y="3950208"/>
            <a:ext cx="3474720" cy="41148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Speed of aging. Population mean = 1.0. Above = faster aging, below = slower.</a:t>
            </a:r>
            <a:endParaRPr lang="en-US" sz="1000" dirty="0"/>
          </a:p>
        </p:txBody>
      </p:sp>
      <p:sp>
        <p:nvSpPr>
          <p:cNvPr id="19" name="Shape 17"/>
          <p:cNvSpPr/>
          <p:nvPr/>
        </p:nvSpPr>
        <p:spPr>
          <a:xfrm>
            <a:off x="4754880" y="1143000"/>
            <a:ext cx="4023360" cy="35661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8000"/>
              </a:srgbClr>
            </a:outerShdw>
          </a:effectLst>
        </p:spPr>
      </p:sp>
      <p:sp>
        <p:nvSpPr>
          <p:cNvPr id="20" name="Text 18"/>
          <p:cNvSpPr/>
          <p:nvPr/>
        </p:nvSpPr>
        <p:spPr>
          <a:xfrm>
            <a:off x="4937760" y="1280160"/>
            <a:ext cx="3657600" cy="32004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Real Data Used for Calibration</a:t>
            </a:r>
            <a:endParaRPr lang="en-US" sz="1300" dirty="0"/>
          </a:p>
        </p:txBody>
      </p:sp>
      <p:sp>
        <p:nvSpPr>
          <p:cNvPr id="21" name="Shape 19"/>
          <p:cNvSpPr/>
          <p:nvPr/>
        </p:nvSpPr>
        <p:spPr>
          <a:xfrm>
            <a:off x="4937760" y="1737360"/>
            <a:ext cx="3566160" cy="658368"/>
          </a:xfrm>
          <a:prstGeom prst="rect">
            <a:avLst/>
          </a:prstGeom>
          <a:solidFill>
            <a:srgbClr val="F8FAFC"/>
          </a:solidFill>
          <a:ln w="12700">
            <a:solidFill>
              <a:srgbClr val="E2E8F0"/>
            </a:solidFill>
            <a:prstDash val="solid"/>
          </a:ln>
        </p:spPr>
      </p:sp>
      <p:sp>
        <p:nvSpPr>
          <p:cNvPr id="22" name="Text 20"/>
          <p:cNvSpPr/>
          <p:nvPr/>
        </p:nvSpPr>
        <p:spPr>
          <a:xfrm>
            <a:off x="5074920" y="1783080"/>
            <a:ext cx="1371600" cy="228600"/>
          </a:xfrm>
          <a:prstGeom prst="rect">
            <a:avLst/>
          </a:prstGeom>
          <a:noFill/>
          <a:ln/>
        </p:spPr>
        <p:txBody>
          <a:bodyPr wrap="square"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GSE40279</a:t>
            </a:r>
            <a:endParaRPr lang="en-US" sz="1000" dirty="0"/>
          </a:p>
        </p:txBody>
      </p:sp>
      <p:sp>
        <p:nvSpPr>
          <p:cNvPr id="23" name="Text 21"/>
          <p:cNvSpPr/>
          <p:nvPr/>
        </p:nvSpPr>
        <p:spPr>
          <a:xfrm>
            <a:off x="6537960" y="1783080"/>
            <a:ext cx="1828800" cy="228600"/>
          </a:xfrm>
          <a:prstGeom prst="rect">
            <a:avLst/>
          </a:prstGeom>
          <a:noFill/>
          <a:ln/>
        </p:spPr>
        <p:txBody>
          <a:bodyPr wrap="square" rtlCol="0" anchor="ctr"/>
          <a:lstStyle/>
          <a:p>
            <a:pPr algn="r" indent="0" marL="0">
              <a:buNone/>
            </a:pPr>
            <a:r>
              <a:rPr lang="en-US" sz="1000" b="1" dirty="0">
                <a:solidFill>
                  <a:srgbClr val="1E293B"/>
                </a:solidFill>
                <a:latin typeface="Calibri" pitchFamily="34" charset="0"/>
                <a:ea typeface="Calibri" pitchFamily="34" charset="-122"/>
                <a:cs typeface="Calibri" pitchFamily="34" charset="-120"/>
              </a:rPr>
              <a:t>656 blood samples</a:t>
            </a:r>
            <a:endParaRPr lang="en-US" sz="1000" dirty="0"/>
          </a:p>
        </p:txBody>
      </p:sp>
      <p:sp>
        <p:nvSpPr>
          <p:cNvPr id="24" name="Text 22"/>
          <p:cNvSpPr/>
          <p:nvPr/>
        </p:nvSpPr>
        <p:spPr>
          <a:xfrm>
            <a:off x="5074920" y="2029968"/>
            <a:ext cx="329184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Ages 19–101 · Horvath validation cohort</a:t>
            </a:r>
            <a:endParaRPr lang="en-US" sz="950" dirty="0"/>
          </a:p>
        </p:txBody>
      </p:sp>
      <p:sp>
        <p:nvSpPr>
          <p:cNvPr id="25" name="Shape 23"/>
          <p:cNvSpPr/>
          <p:nvPr/>
        </p:nvSpPr>
        <p:spPr>
          <a:xfrm>
            <a:off x="4937760" y="2514600"/>
            <a:ext cx="3566160" cy="658368"/>
          </a:xfrm>
          <a:prstGeom prst="rect">
            <a:avLst/>
          </a:prstGeom>
          <a:solidFill>
            <a:srgbClr val="F8FAFC"/>
          </a:solidFill>
          <a:ln w="12700">
            <a:solidFill>
              <a:srgbClr val="E2E8F0"/>
            </a:solidFill>
            <a:prstDash val="solid"/>
          </a:ln>
        </p:spPr>
      </p:sp>
      <p:sp>
        <p:nvSpPr>
          <p:cNvPr id="26" name="Text 24"/>
          <p:cNvSpPr/>
          <p:nvPr/>
        </p:nvSpPr>
        <p:spPr>
          <a:xfrm>
            <a:off x="5074920" y="2560320"/>
            <a:ext cx="1371600" cy="228600"/>
          </a:xfrm>
          <a:prstGeom prst="rect">
            <a:avLst/>
          </a:prstGeom>
          <a:noFill/>
          <a:ln/>
        </p:spPr>
        <p:txBody>
          <a:bodyPr wrap="square"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GSE51057</a:t>
            </a:r>
            <a:endParaRPr lang="en-US" sz="1000" dirty="0"/>
          </a:p>
        </p:txBody>
      </p:sp>
      <p:sp>
        <p:nvSpPr>
          <p:cNvPr id="27" name="Text 25"/>
          <p:cNvSpPr/>
          <p:nvPr/>
        </p:nvSpPr>
        <p:spPr>
          <a:xfrm>
            <a:off x="6537960" y="2560320"/>
            <a:ext cx="1828800" cy="228600"/>
          </a:xfrm>
          <a:prstGeom prst="rect">
            <a:avLst/>
          </a:prstGeom>
          <a:noFill/>
          <a:ln/>
        </p:spPr>
        <p:txBody>
          <a:bodyPr wrap="square" rtlCol="0" anchor="ctr"/>
          <a:lstStyle/>
          <a:p>
            <a:pPr algn="r" indent="0" marL="0">
              <a:buNone/>
            </a:pPr>
            <a:r>
              <a:rPr lang="en-US" sz="1000" b="1" dirty="0">
                <a:solidFill>
                  <a:srgbClr val="1E293B"/>
                </a:solidFill>
                <a:latin typeface="Calibri" pitchFamily="34" charset="0"/>
                <a:ea typeface="Calibri" pitchFamily="34" charset="-122"/>
                <a:cs typeface="Calibri" pitchFamily="34" charset="-120"/>
              </a:rPr>
              <a:t>329 multi-tissue</a:t>
            </a:r>
            <a:endParaRPr lang="en-US" sz="1000" dirty="0"/>
          </a:p>
        </p:txBody>
      </p:sp>
      <p:sp>
        <p:nvSpPr>
          <p:cNvPr id="28" name="Text 26"/>
          <p:cNvSpPr/>
          <p:nvPr/>
        </p:nvSpPr>
        <p:spPr>
          <a:xfrm>
            <a:off x="5074920" y="2807208"/>
            <a:ext cx="329184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Blood, brain, saliva · tissue-specific drift</a:t>
            </a:r>
            <a:endParaRPr lang="en-US" sz="950" dirty="0"/>
          </a:p>
        </p:txBody>
      </p:sp>
      <p:sp>
        <p:nvSpPr>
          <p:cNvPr id="29" name="Shape 27"/>
          <p:cNvSpPr/>
          <p:nvPr/>
        </p:nvSpPr>
        <p:spPr>
          <a:xfrm>
            <a:off x="4937760" y="3291840"/>
            <a:ext cx="3566160" cy="658368"/>
          </a:xfrm>
          <a:prstGeom prst="rect">
            <a:avLst/>
          </a:prstGeom>
          <a:solidFill>
            <a:srgbClr val="F8FAFC"/>
          </a:solidFill>
          <a:ln w="12700">
            <a:solidFill>
              <a:srgbClr val="E2E8F0"/>
            </a:solidFill>
            <a:prstDash val="solid"/>
          </a:ln>
        </p:spPr>
      </p:sp>
      <p:sp>
        <p:nvSpPr>
          <p:cNvPr id="30" name="Text 28"/>
          <p:cNvSpPr/>
          <p:nvPr/>
        </p:nvSpPr>
        <p:spPr>
          <a:xfrm>
            <a:off x="5074920" y="3337560"/>
            <a:ext cx="1371600" cy="228600"/>
          </a:xfrm>
          <a:prstGeom prst="rect">
            <a:avLst/>
          </a:prstGeom>
          <a:noFill/>
          <a:ln/>
        </p:spPr>
        <p:txBody>
          <a:bodyPr wrap="square"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CpGs retained</a:t>
            </a:r>
            <a:endParaRPr lang="en-US" sz="1000" dirty="0"/>
          </a:p>
        </p:txBody>
      </p:sp>
      <p:sp>
        <p:nvSpPr>
          <p:cNvPr id="31" name="Text 29"/>
          <p:cNvSpPr/>
          <p:nvPr/>
        </p:nvSpPr>
        <p:spPr>
          <a:xfrm>
            <a:off x="6537960" y="3337560"/>
            <a:ext cx="1828800" cy="228600"/>
          </a:xfrm>
          <a:prstGeom prst="rect">
            <a:avLst/>
          </a:prstGeom>
          <a:noFill/>
          <a:ln/>
        </p:spPr>
        <p:txBody>
          <a:bodyPr wrap="square" rtlCol="0" anchor="ctr"/>
          <a:lstStyle/>
          <a:p>
            <a:pPr algn="r" indent="0" marL="0">
              <a:buNone/>
            </a:pPr>
            <a:r>
              <a:rPr lang="en-US" sz="1000" b="1" dirty="0">
                <a:solidFill>
                  <a:srgbClr val="1E293B"/>
                </a:solidFill>
                <a:latin typeface="Calibri" pitchFamily="34" charset="0"/>
                <a:ea typeface="Calibri" pitchFamily="34" charset="-122"/>
                <a:cs typeface="Calibri" pitchFamily="34" charset="-120"/>
              </a:rPr>
              <a:t>102k+ sites</a:t>
            </a:r>
            <a:endParaRPr lang="en-US" sz="1000" dirty="0"/>
          </a:p>
        </p:txBody>
      </p:sp>
      <p:sp>
        <p:nvSpPr>
          <p:cNvPr id="32" name="Text 30"/>
          <p:cNvSpPr/>
          <p:nvPr/>
        </p:nvSpPr>
        <p:spPr>
          <a:xfrm>
            <a:off x="5074920" y="3584448"/>
            <a:ext cx="329184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r² &gt; 0.02 · age-correlated only</a:t>
            </a:r>
            <a:endParaRPr lang="en-US" sz="950" dirty="0"/>
          </a:p>
        </p:txBody>
      </p:sp>
      <p:sp>
        <p:nvSpPr>
          <p:cNvPr id="33" name="Shape 31"/>
          <p:cNvSpPr/>
          <p:nvPr/>
        </p:nvSpPr>
        <p:spPr>
          <a:xfrm>
            <a:off x="4937760" y="4069080"/>
            <a:ext cx="3566160" cy="658368"/>
          </a:xfrm>
          <a:prstGeom prst="rect">
            <a:avLst/>
          </a:prstGeom>
          <a:solidFill>
            <a:srgbClr val="F8FAFC"/>
          </a:solidFill>
          <a:ln w="12700">
            <a:solidFill>
              <a:srgbClr val="E2E8F0"/>
            </a:solidFill>
            <a:prstDash val="solid"/>
          </a:ln>
        </p:spPr>
      </p:sp>
      <p:sp>
        <p:nvSpPr>
          <p:cNvPr id="34" name="Text 32"/>
          <p:cNvSpPr/>
          <p:nvPr/>
        </p:nvSpPr>
        <p:spPr>
          <a:xfrm>
            <a:off x="5074920" y="4114800"/>
            <a:ext cx="1371600" cy="228600"/>
          </a:xfrm>
          <a:prstGeom prst="rect">
            <a:avLst/>
          </a:prstGeom>
          <a:noFill/>
          <a:ln/>
        </p:spPr>
        <p:txBody>
          <a:bodyPr wrap="square"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Top CpG site</a:t>
            </a:r>
            <a:endParaRPr lang="en-US" sz="1000" dirty="0"/>
          </a:p>
        </p:txBody>
      </p:sp>
      <p:sp>
        <p:nvSpPr>
          <p:cNvPr id="35" name="Text 33"/>
          <p:cNvSpPr/>
          <p:nvPr/>
        </p:nvSpPr>
        <p:spPr>
          <a:xfrm>
            <a:off x="6537960" y="4114800"/>
            <a:ext cx="1828800" cy="228600"/>
          </a:xfrm>
          <a:prstGeom prst="rect">
            <a:avLst/>
          </a:prstGeom>
          <a:noFill/>
          <a:ln/>
        </p:spPr>
        <p:txBody>
          <a:bodyPr wrap="square" rtlCol="0" anchor="ctr"/>
          <a:lstStyle/>
          <a:p>
            <a:pPr algn="r" indent="0" marL="0">
              <a:buNone/>
            </a:pPr>
            <a:r>
              <a:rPr lang="en-US" sz="1000" b="1" dirty="0">
                <a:solidFill>
                  <a:srgbClr val="1E293B"/>
                </a:solidFill>
                <a:latin typeface="Calibri" pitchFamily="34" charset="0"/>
                <a:ea typeface="Calibri" pitchFamily="34" charset="-122"/>
                <a:cs typeface="Calibri" pitchFamily="34" charset="-120"/>
              </a:rPr>
              <a:t>cg16867657</a:t>
            </a:r>
            <a:endParaRPr lang="en-US" sz="1000" dirty="0"/>
          </a:p>
        </p:txBody>
      </p:sp>
      <p:sp>
        <p:nvSpPr>
          <p:cNvPr id="36" name="Text 34"/>
          <p:cNvSpPr/>
          <p:nvPr/>
        </p:nvSpPr>
        <p:spPr>
          <a:xfrm>
            <a:off x="5074920" y="4361688"/>
            <a:ext cx="3291840" cy="2560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r² = 0.737 · strongest age signal in dataset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37160"/>
            <a:ext cx="2743200" cy="274320"/>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BENCHMARK TASKS</a:t>
            </a:r>
            <a:endParaRPr lang="en-US" sz="900" dirty="0"/>
          </a:p>
        </p:txBody>
      </p:sp>
      <p:sp>
        <p:nvSpPr>
          <p:cNvPr id="4" name="Text 2"/>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Four categories testing distinct reasoning skills</a:t>
            </a:r>
            <a:endParaRPr lang="en-US" sz="2600" dirty="0"/>
          </a:p>
        </p:txBody>
      </p:sp>
      <p:sp>
        <p:nvSpPr>
          <p:cNvPr id="5" name="Shape 3"/>
          <p:cNvSpPr/>
          <p:nvPr/>
        </p:nvSpPr>
        <p:spPr>
          <a:xfrm>
            <a:off x="320040" y="1188720"/>
            <a:ext cx="4206240" cy="1737360"/>
          </a:xfrm>
          <a:prstGeom prst="rect">
            <a:avLst/>
          </a:prstGeom>
          <a:solidFill>
            <a:srgbClr val="152032"/>
          </a:solidFill>
          <a:ln w="12700">
            <a:solidFill>
              <a:srgbClr val="1E3A4A"/>
            </a:solidFill>
            <a:prstDash val="solid"/>
          </a:ln>
        </p:spPr>
      </p:sp>
      <p:sp>
        <p:nvSpPr>
          <p:cNvPr id="6" name="Shape 4"/>
          <p:cNvSpPr/>
          <p:nvPr/>
        </p:nvSpPr>
        <p:spPr>
          <a:xfrm>
            <a:off x="320040" y="1188720"/>
            <a:ext cx="4206240" cy="54864"/>
          </a:xfrm>
          <a:prstGeom prst="rect">
            <a:avLst/>
          </a:prstGeom>
          <a:solidFill>
            <a:srgbClr val="3B82F6"/>
          </a:solidFill>
          <a:ln w="12700">
            <a:solidFill>
              <a:srgbClr val="3B82F6"/>
            </a:solidFill>
            <a:prstDash val="solid"/>
          </a:ln>
        </p:spPr>
      </p:sp>
      <p:sp>
        <p:nvSpPr>
          <p:cNvPr id="7" name="Shape 5"/>
          <p:cNvSpPr/>
          <p:nvPr/>
        </p:nvSpPr>
        <p:spPr>
          <a:xfrm>
            <a:off x="502920" y="1353312"/>
            <a:ext cx="457200" cy="457200"/>
          </a:xfrm>
          <a:prstGeom prst="ellipse">
            <a:avLst/>
          </a:prstGeom>
          <a:solidFill>
            <a:srgbClr val="1E3A5F"/>
          </a:solidFill>
          <a:ln w="12700">
            <a:solidFill>
              <a:srgbClr val="3B82F6"/>
            </a:solidFill>
            <a:prstDash val="solid"/>
          </a:ln>
        </p:spPr>
      </p:sp>
      <p:sp>
        <p:nvSpPr>
          <p:cNvPr id="8" name="Text 6"/>
          <p:cNvSpPr/>
          <p:nvPr/>
        </p:nvSpPr>
        <p:spPr>
          <a:xfrm>
            <a:off x="502920" y="1353312"/>
            <a:ext cx="457200" cy="457200"/>
          </a:xfrm>
          <a:prstGeom prst="rect">
            <a:avLst/>
          </a:prstGeom>
          <a:noFill/>
          <a:ln/>
        </p:spPr>
        <p:txBody>
          <a:bodyPr wrap="square" lIns="0" tIns="0" rIns="0" bIns="0" rtlCol="0" anchor="ctr"/>
          <a:lstStyle/>
          <a:p>
            <a:pPr algn="ctr" indent="0" marL="0">
              <a:buNone/>
            </a:pPr>
            <a:r>
              <a:rPr lang="en-US" sz="1600" b="1" dirty="0">
                <a:solidFill>
                  <a:srgbClr val="3B82F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97280" y="1371600"/>
            <a:ext cx="324612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Clock Interpretation</a:t>
            </a:r>
            <a:endParaRPr lang="en-US" sz="1300" dirty="0"/>
          </a:p>
        </p:txBody>
      </p:sp>
      <p:sp>
        <p:nvSpPr>
          <p:cNvPr id="10" name="Text 8"/>
          <p:cNvSpPr/>
          <p:nvPr/>
        </p:nvSpPr>
        <p:spPr>
          <a:xfrm>
            <a:off x="1097280" y="1627632"/>
            <a:ext cx="3246120" cy="201168"/>
          </a:xfrm>
          <a:prstGeom prst="rect">
            <a:avLst/>
          </a:prstGeom>
          <a:noFill/>
          <a:ln/>
        </p:spPr>
        <p:txBody>
          <a:bodyPr wrap="square" rtlCol="0" anchor="ctr"/>
          <a:lstStyle/>
          <a:p>
            <a:pPr indent="0" marL="0">
              <a:buNone/>
            </a:pPr>
            <a:r>
              <a:rPr lang="en-US" sz="900" dirty="0">
                <a:solidFill>
                  <a:srgbClr val="3B82F6"/>
                </a:solidFill>
                <a:latin typeface="Calibri" pitchFamily="34" charset="0"/>
                <a:ea typeface="Calibri" pitchFamily="34" charset="-122"/>
                <a:cs typeface="Calibri" pitchFamily="34" charset="-120"/>
              </a:rPr>
              <a:t>80 scenarios</a:t>
            </a:r>
            <a:endParaRPr lang="en-US" sz="900" dirty="0"/>
          </a:p>
        </p:txBody>
      </p:sp>
      <p:sp>
        <p:nvSpPr>
          <p:cNvPr id="11" name="Text 9"/>
          <p:cNvSpPr/>
          <p:nvPr/>
        </p:nvSpPr>
        <p:spPr>
          <a:xfrm>
            <a:off x="502920" y="1920240"/>
            <a:ext cx="384048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What do these Horvath, GrimAge, and DunedinPACE values mean together? Is this discordance clinically significant?</a:t>
            </a:r>
            <a:endParaRPr lang="en-US" sz="1050" dirty="0"/>
          </a:p>
        </p:txBody>
      </p:sp>
      <p:sp>
        <p:nvSpPr>
          <p:cNvPr id="12" name="Text 10"/>
          <p:cNvSpPr/>
          <p:nvPr/>
        </p:nvSpPr>
        <p:spPr>
          <a:xfrm>
            <a:off x="502920" y="2450592"/>
            <a:ext cx="3840480" cy="347472"/>
          </a:xfrm>
          <a:prstGeom prst="rect">
            <a:avLst/>
          </a:prstGeom>
          <a:noFill/>
          <a:ln/>
        </p:spPr>
        <p:txBody>
          <a:bodyPr wrap="square" rtlCol="0" anchor="ctr"/>
          <a:lstStyle/>
          <a:p>
            <a:pPr indent="0" marL="0">
              <a:buNone/>
            </a:pPr>
            <a:r>
              <a:rPr lang="en-US" sz="900" i="1" dirty="0">
                <a:solidFill>
                  <a:srgbClr val="475569"/>
                </a:solidFill>
                <a:latin typeface="Calibri" pitchFamily="34" charset="0"/>
                <a:ea typeface="Calibri" pitchFamily="34" charset="-122"/>
                <a:cs typeface="Calibri" pitchFamily="34" charset="-120"/>
              </a:rPr>
              <a:t>e.g. Horvath = 48, GrimAge = 67, DunedinPACE = 1.24 for a 55-year-old. What does this pattern indicate?</a:t>
            </a:r>
            <a:endParaRPr lang="en-US" sz="900" dirty="0"/>
          </a:p>
        </p:txBody>
      </p:sp>
      <p:sp>
        <p:nvSpPr>
          <p:cNvPr id="13" name="Shape 11"/>
          <p:cNvSpPr/>
          <p:nvPr/>
        </p:nvSpPr>
        <p:spPr>
          <a:xfrm>
            <a:off x="4754880" y="1188720"/>
            <a:ext cx="4206240" cy="1737360"/>
          </a:xfrm>
          <a:prstGeom prst="rect">
            <a:avLst/>
          </a:prstGeom>
          <a:solidFill>
            <a:srgbClr val="152032"/>
          </a:solidFill>
          <a:ln w="12700">
            <a:solidFill>
              <a:srgbClr val="1E3A4A"/>
            </a:solidFill>
            <a:prstDash val="solid"/>
          </a:ln>
        </p:spPr>
      </p:sp>
      <p:sp>
        <p:nvSpPr>
          <p:cNvPr id="14" name="Shape 12"/>
          <p:cNvSpPr/>
          <p:nvPr/>
        </p:nvSpPr>
        <p:spPr>
          <a:xfrm>
            <a:off x="4754880" y="1188720"/>
            <a:ext cx="4206240" cy="54864"/>
          </a:xfrm>
          <a:prstGeom prst="rect">
            <a:avLst/>
          </a:prstGeom>
          <a:solidFill>
            <a:srgbClr val="10B981"/>
          </a:solidFill>
          <a:ln w="12700">
            <a:solidFill>
              <a:srgbClr val="10B981"/>
            </a:solidFill>
            <a:prstDash val="solid"/>
          </a:ln>
        </p:spPr>
      </p:sp>
      <p:sp>
        <p:nvSpPr>
          <p:cNvPr id="15" name="Shape 13"/>
          <p:cNvSpPr/>
          <p:nvPr/>
        </p:nvSpPr>
        <p:spPr>
          <a:xfrm>
            <a:off x="4937760" y="1353312"/>
            <a:ext cx="457200" cy="457200"/>
          </a:xfrm>
          <a:prstGeom prst="ellipse">
            <a:avLst/>
          </a:prstGeom>
          <a:solidFill>
            <a:srgbClr val="1A3A2A"/>
          </a:solidFill>
          <a:ln w="12700">
            <a:solidFill>
              <a:srgbClr val="10B981"/>
            </a:solidFill>
            <a:prstDash val="solid"/>
          </a:ln>
        </p:spPr>
      </p:sp>
      <p:sp>
        <p:nvSpPr>
          <p:cNvPr id="16" name="Text 14"/>
          <p:cNvSpPr/>
          <p:nvPr/>
        </p:nvSpPr>
        <p:spPr>
          <a:xfrm>
            <a:off x="4937760" y="1353312"/>
            <a:ext cx="457200" cy="45720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B</a:t>
            </a:r>
            <a:endParaRPr lang="en-US" sz="1600" dirty="0"/>
          </a:p>
        </p:txBody>
      </p:sp>
      <p:sp>
        <p:nvSpPr>
          <p:cNvPr id="17" name="Text 15"/>
          <p:cNvSpPr/>
          <p:nvPr/>
        </p:nvSpPr>
        <p:spPr>
          <a:xfrm>
            <a:off x="5532120" y="1371600"/>
            <a:ext cx="324612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Intervention Reasoning</a:t>
            </a:r>
            <a:endParaRPr lang="en-US" sz="1300" dirty="0"/>
          </a:p>
        </p:txBody>
      </p:sp>
      <p:sp>
        <p:nvSpPr>
          <p:cNvPr id="18" name="Text 16"/>
          <p:cNvSpPr/>
          <p:nvPr/>
        </p:nvSpPr>
        <p:spPr>
          <a:xfrm>
            <a:off x="5532120" y="1627632"/>
            <a:ext cx="3246120" cy="201168"/>
          </a:xfrm>
          <a:prstGeom prst="rect">
            <a:avLst/>
          </a:prstGeom>
          <a:noFill/>
          <a:ln/>
        </p:spPr>
        <p:txBody>
          <a:bodyPr wrap="square" rtlCol="0" anchor="ctr"/>
          <a:lstStyle/>
          <a:p>
            <a:pPr indent="0" marL="0">
              <a:buNone/>
            </a:pPr>
            <a:r>
              <a:rPr lang="en-US" sz="900" dirty="0">
                <a:solidFill>
                  <a:srgbClr val="10B981"/>
                </a:solidFill>
                <a:latin typeface="Calibri" pitchFamily="34" charset="0"/>
                <a:ea typeface="Calibri" pitchFamily="34" charset="-122"/>
                <a:cs typeface="Calibri" pitchFamily="34" charset="-120"/>
              </a:rPr>
              <a:t>50 scenarios</a:t>
            </a:r>
            <a:endParaRPr lang="en-US" sz="900" dirty="0"/>
          </a:p>
        </p:txBody>
      </p:sp>
      <p:sp>
        <p:nvSpPr>
          <p:cNvPr id="19" name="Text 17"/>
          <p:cNvSpPr/>
          <p:nvPr/>
        </p:nvSpPr>
        <p:spPr>
          <a:xfrm>
            <a:off x="4937760" y="1920240"/>
            <a:ext cx="384048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Patient had caloric restriction for 12 months. The clocks changed. Did the intervention actually work?</a:t>
            </a:r>
            <a:endParaRPr lang="en-US" sz="1050" dirty="0"/>
          </a:p>
        </p:txBody>
      </p:sp>
      <p:sp>
        <p:nvSpPr>
          <p:cNvPr id="20" name="Text 18"/>
          <p:cNvSpPr/>
          <p:nvPr/>
        </p:nvSpPr>
        <p:spPr>
          <a:xfrm>
            <a:off x="4937760" y="2450592"/>
            <a:ext cx="3840480" cy="347472"/>
          </a:xfrm>
          <a:prstGeom prst="rect">
            <a:avLst/>
          </a:prstGeom>
          <a:noFill/>
          <a:ln/>
        </p:spPr>
        <p:txBody>
          <a:bodyPr wrap="square" rtlCol="0" anchor="ctr"/>
          <a:lstStyle/>
          <a:p>
            <a:pPr indent="0" marL="0">
              <a:buNone/>
            </a:pPr>
            <a:r>
              <a:rPr lang="en-US" sz="900" i="1" dirty="0">
                <a:solidFill>
                  <a:srgbClr val="475569"/>
                </a:solidFill>
                <a:latin typeface="Calibri" pitchFamily="34" charset="0"/>
                <a:ea typeface="Calibri" pitchFamily="34" charset="-122"/>
                <a:cs typeface="Calibri" pitchFamily="34" charset="-120"/>
              </a:rPr>
              <a:t>e.g. Pre: DunedinPACE 1.18. Post: DunedinPACE 0.92. GrimAge barely changed. Is this working?</a:t>
            </a:r>
            <a:endParaRPr lang="en-US" sz="900" dirty="0"/>
          </a:p>
        </p:txBody>
      </p:sp>
      <p:sp>
        <p:nvSpPr>
          <p:cNvPr id="21" name="Shape 19"/>
          <p:cNvSpPr/>
          <p:nvPr/>
        </p:nvSpPr>
        <p:spPr>
          <a:xfrm>
            <a:off x="320040" y="3108960"/>
            <a:ext cx="4206240" cy="1737360"/>
          </a:xfrm>
          <a:prstGeom prst="rect">
            <a:avLst/>
          </a:prstGeom>
          <a:solidFill>
            <a:srgbClr val="152032"/>
          </a:solidFill>
          <a:ln w="12700">
            <a:solidFill>
              <a:srgbClr val="1E3A4A"/>
            </a:solidFill>
            <a:prstDash val="solid"/>
          </a:ln>
        </p:spPr>
      </p:sp>
      <p:sp>
        <p:nvSpPr>
          <p:cNvPr id="22" name="Shape 20"/>
          <p:cNvSpPr/>
          <p:nvPr/>
        </p:nvSpPr>
        <p:spPr>
          <a:xfrm>
            <a:off x="320040" y="3108960"/>
            <a:ext cx="4206240" cy="54864"/>
          </a:xfrm>
          <a:prstGeom prst="rect">
            <a:avLst/>
          </a:prstGeom>
          <a:solidFill>
            <a:srgbClr val="F97316"/>
          </a:solidFill>
          <a:ln w="12700">
            <a:solidFill>
              <a:srgbClr val="F97316"/>
            </a:solidFill>
            <a:prstDash val="solid"/>
          </a:ln>
        </p:spPr>
      </p:sp>
      <p:sp>
        <p:nvSpPr>
          <p:cNvPr id="23" name="Shape 21"/>
          <p:cNvSpPr/>
          <p:nvPr/>
        </p:nvSpPr>
        <p:spPr>
          <a:xfrm>
            <a:off x="502920" y="3273552"/>
            <a:ext cx="457200" cy="457200"/>
          </a:xfrm>
          <a:prstGeom prst="ellipse">
            <a:avLst/>
          </a:prstGeom>
          <a:solidFill>
            <a:srgbClr val="3A2010"/>
          </a:solidFill>
          <a:ln w="12700">
            <a:solidFill>
              <a:srgbClr val="F97316"/>
            </a:solidFill>
            <a:prstDash val="solid"/>
          </a:ln>
        </p:spPr>
      </p:sp>
      <p:sp>
        <p:nvSpPr>
          <p:cNvPr id="24" name="Text 22"/>
          <p:cNvSpPr/>
          <p:nvPr/>
        </p:nvSpPr>
        <p:spPr>
          <a:xfrm>
            <a:off x="502920" y="3273552"/>
            <a:ext cx="457200" cy="457200"/>
          </a:xfrm>
          <a:prstGeom prst="rect">
            <a:avLst/>
          </a:prstGeom>
          <a:noFill/>
          <a:ln/>
        </p:spPr>
        <p:txBody>
          <a:bodyPr wrap="square" lIns="0" tIns="0" rIns="0" bIns="0" rtlCol="0" anchor="ctr"/>
          <a:lstStyle/>
          <a:p>
            <a:pPr algn="ctr" indent="0" marL="0">
              <a:buNone/>
            </a:pPr>
            <a:r>
              <a:rPr lang="en-US" sz="1600" b="1" dirty="0">
                <a:solidFill>
                  <a:srgbClr val="F97316"/>
                </a:solidFill>
                <a:latin typeface="Calibri" pitchFamily="34" charset="0"/>
                <a:ea typeface="Calibri" pitchFamily="34" charset="-122"/>
                <a:cs typeface="Calibri" pitchFamily="34" charset="-120"/>
              </a:rPr>
              <a:t>C</a:t>
            </a:r>
            <a:endParaRPr lang="en-US" sz="1600" dirty="0"/>
          </a:p>
        </p:txBody>
      </p:sp>
      <p:sp>
        <p:nvSpPr>
          <p:cNvPr id="25" name="Text 23"/>
          <p:cNvSpPr/>
          <p:nvPr/>
        </p:nvSpPr>
        <p:spPr>
          <a:xfrm>
            <a:off x="1097280" y="3291840"/>
            <a:ext cx="324612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Multi-Tissue Discordance</a:t>
            </a:r>
            <a:endParaRPr lang="en-US" sz="1300" dirty="0"/>
          </a:p>
        </p:txBody>
      </p:sp>
      <p:sp>
        <p:nvSpPr>
          <p:cNvPr id="26" name="Text 24"/>
          <p:cNvSpPr/>
          <p:nvPr/>
        </p:nvSpPr>
        <p:spPr>
          <a:xfrm>
            <a:off x="1097280" y="3547872"/>
            <a:ext cx="3246120" cy="201168"/>
          </a:xfrm>
          <a:prstGeom prst="rect">
            <a:avLst/>
          </a:prstGeom>
          <a:noFill/>
          <a:ln/>
        </p:spPr>
        <p:txBody>
          <a:bodyPr wrap="square" rtlCol="0" anchor="ctr"/>
          <a:lstStyle/>
          <a:p>
            <a:pPr indent="0" marL="0">
              <a:buNone/>
            </a:pPr>
            <a:r>
              <a:rPr lang="en-US" sz="900" dirty="0">
                <a:solidFill>
                  <a:srgbClr val="F97316"/>
                </a:solidFill>
                <a:latin typeface="Calibri" pitchFamily="34" charset="0"/>
                <a:ea typeface="Calibri" pitchFamily="34" charset="-122"/>
                <a:cs typeface="Calibri" pitchFamily="34" charset="-120"/>
              </a:rPr>
              <a:t>40 scenarios</a:t>
            </a:r>
            <a:endParaRPr lang="en-US" sz="900" dirty="0"/>
          </a:p>
        </p:txBody>
      </p:sp>
      <p:sp>
        <p:nvSpPr>
          <p:cNvPr id="27" name="Text 25"/>
          <p:cNvSpPr/>
          <p:nvPr/>
        </p:nvSpPr>
        <p:spPr>
          <a:xfrm>
            <a:off x="502920" y="3840480"/>
            <a:ext cx="384048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Same patient, blood vs brain sample. Clocks disagree significantly. Is this abnormal or expected?</a:t>
            </a:r>
            <a:endParaRPr lang="en-US" sz="1050" dirty="0"/>
          </a:p>
        </p:txBody>
      </p:sp>
      <p:sp>
        <p:nvSpPr>
          <p:cNvPr id="28" name="Text 26"/>
          <p:cNvSpPr/>
          <p:nvPr/>
        </p:nvSpPr>
        <p:spPr>
          <a:xfrm>
            <a:off x="502920" y="4370832"/>
            <a:ext cx="3840480" cy="347472"/>
          </a:xfrm>
          <a:prstGeom prst="rect">
            <a:avLst/>
          </a:prstGeom>
          <a:noFill/>
          <a:ln/>
        </p:spPr>
        <p:txBody>
          <a:bodyPr wrap="square" rtlCol="0" anchor="ctr"/>
          <a:lstStyle/>
          <a:p>
            <a:pPr indent="0" marL="0">
              <a:buNone/>
            </a:pPr>
            <a:r>
              <a:rPr lang="en-US" sz="900" i="1" dirty="0">
                <a:solidFill>
                  <a:srgbClr val="475569"/>
                </a:solidFill>
                <a:latin typeface="Calibri" pitchFamily="34" charset="0"/>
                <a:ea typeface="Calibri" pitchFamily="34" charset="-122"/>
                <a:cs typeface="Calibri" pitchFamily="34" charset="-120"/>
              </a:rPr>
              <a:t>e.g. Blood Horvath = 52, Brain Horvath = 64 for a 58-year-old. Concerning or tissue-specific drift?</a:t>
            </a:r>
            <a:endParaRPr lang="en-US" sz="900" dirty="0"/>
          </a:p>
        </p:txBody>
      </p:sp>
      <p:sp>
        <p:nvSpPr>
          <p:cNvPr id="29" name="Shape 27"/>
          <p:cNvSpPr/>
          <p:nvPr/>
        </p:nvSpPr>
        <p:spPr>
          <a:xfrm>
            <a:off x="4754880" y="3108960"/>
            <a:ext cx="4206240" cy="1737360"/>
          </a:xfrm>
          <a:prstGeom prst="rect">
            <a:avLst/>
          </a:prstGeom>
          <a:solidFill>
            <a:srgbClr val="152032"/>
          </a:solidFill>
          <a:ln w="12700">
            <a:solidFill>
              <a:srgbClr val="1E3A4A"/>
            </a:solidFill>
            <a:prstDash val="solid"/>
          </a:ln>
        </p:spPr>
      </p:sp>
      <p:sp>
        <p:nvSpPr>
          <p:cNvPr id="30" name="Shape 28"/>
          <p:cNvSpPr/>
          <p:nvPr/>
        </p:nvSpPr>
        <p:spPr>
          <a:xfrm>
            <a:off x="4754880" y="3108960"/>
            <a:ext cx="4206240" cy="54864"/>
          </a:xfrm>
          <a:prstGeom prst="rect">
            <a:avLst/>
          </a:prstGeom>
          <a:solidFill>
            <a:srgbClr val="EF4444"/>
          </a:solidFill>
          <a:ln w="12700">
            <a:solidFill>
              <a:srgbClr val="EF4444"/>
            </a:solidFill>
            <a:prstDash val="solid"/>
          </a:ln>
        </p:spPr>
      </p:sp>
      <p:sp>
        <p:nvSpPr>
          <p:cNvPr id="31" name="Shape 29"/>
          <p:cNvSpPr/>
          <p:nvPr/>
        </p:nvSpPr>
        <p:spPr>
          <a:xfrm>
            <a:off x="4937760" y="3273552"/>
            <a:ext cx="457200" cy="457200"/>
          </a:xfrm>
          <a:prstGeom prst="ellipse">
            <a:avLst/>
          </a:prstGeom>
          <a:solidFill>
            <a:srgbClr val="3A1515"/>
          </a:solidFill>
          <a:ln w="12700">
            <a:solidFill>
              <a:srgbClr val="EF4444"/>
            </a:solidFill>
            <a:prstDash val="solid"/>
          </a:ln>
        </p:spPr>
      </p:sp>
      <p:sp>
        <p:nvSpPr>
          <p:cNvPr id="32" name="Text 30"/>
          <p:cNvSpPr/>
          <p:nvPr/>
        </p:nvSpPr>
        <p:spPr>
          <a:xfrm>
            <a:off x="4937760" y="3273552"/>
            <a:ext cx="457200" cy="457200"/>
          </a:xfrm>
          <a:prstGeom prst="rect">
            <a:avLst/>
          </a:prstGeom>
          <a:noFill/>
          <a:ln/>
        </p:spPr>
        <p:txBody>
          <a:bodyPr wrap="square" lIns="0" tIns="0" rIns="0" bIns="0" rtlCol="0" anchor="ctr"/>
          <a:lstStyle/>
          <a:p>
            <a:pPr algn="ctr" indent="0" marL="0">
              <a:buNone/>
            </a:pPr>
            <a:r>
              <a:rPr lang="en-US" sz="1600" b="1" dirty="0">
                <a:solidFill>
                  <a:srgbClr val="EF4444"/>
                </a:solidFill>
                <a:latin typeface="Calibri" pitchFamily="34" charset="0"/>
                <a:ea typeface="Calibri" pitchFamily="34" charset="-122"/>
                <a:cs typeface="Calibri" pitchFamily="34" charset="-120"/>
              </a:rPr>
              <a:t>D</a:t>
            </a:r>
            <a:endParaRPr lang="en-US" sz="1600" dirty="0"/>
          </a:p>
        </p:txBody>
      </p:sp>
      <p:sp>
        <p:nvSpPr>
          <p:cNvPr id="33" name="Text 31"/>
          <p:cNvSpPr/>
          <p:nvPr/>
        </p:nvSpPr>
        <p:spPr>
          <a:xfrm>
            <a:off x="5532120" y="3291840"/>
            <a:ext cx="324612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Confounders &amp; Artifacts</a:t>
            </a:r>
            <a:endParaRPr lang="en-US" sz="1300" dirty="0"/>
          </a:p>
        </p:txBody>
      </p:sp>
      <p:sp>
        <p:nvSpPr>
          <p:cNvPr id="34" name="Text 32"/>
          <p:cNvSpPr/>
          <p:nvPr/>
        </p:nvSpPr>
        <p:spPr>
          <a:xfrm>
            <a:off x="5532120" y="3547872"/>
            <a:ext cx="3246120" cy="201168"/>
          </a:xfrm>
          <a:prstGeom prst="rect">
            <a:avLst/>
          </a:prstGeom>
          <a:noFill/>
          <a:ln/>
        </p:spPr>
        <p:txBody>
          <a:bodyPr wrap="square" rtlCol="0" anchor="ctr"/>
          <a:lstStyle/>
          <a:p>
            <a:pPr indent="0" marL="0">
              <a:buNone/>
            </a:pPr>
            <a:r>
              <a:rPr lang="en-US" sz="900" dirty="0">
                <a:solidFill>
                  <a:srgbClr val="EF4444"/>
                </a:solidFill>
                <a:latin typeface="Calibri" pitchFamily="34" charset="0"/>
                <a:ea typeface="Calibri" pitchFamily="34" charset="-122"/>
                <a:cs typeface="Calibri" pitchFamily="34" charset="-120"/>
              </a:rPr>
              <a:t>30 scenarios</a:t>
            </a:r>
            <a:endParaRPr lang="en-US" sz="900" dirty="0"/>
          </a:p>
        </p:txBody>
      </p:sp>
      <p:sp>
        <p:nvSpPr>
          <p:cNvPr id="35" name="Text 33"/>
          <p:cNvSpPr/>
          <p:nvPr/>
        </p:nvSpPr>
        <p:spPr>
          <a:xfrm>
            <a:off x="4937760" y="3840480"/>
            <a:ext cx="384048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Clocks look alarming — but patient just had chemotherapy. Real accelerated aging or false alarm?</a:t>
            </a:r>
            <a:endParaRPr lang="en-US" sz="1050" dirty="0"/>
          </a:p>
        </p:txBody>
      </p:sp>
      <p:sp>
        <p:nvSpPr>
          <p:cNvPr id="36" name="Text 34"/>
          <p:cNvSpPr/>
          <p:nvPr/>
        </p:nvSpPr>
        <p:spPr>
          <a:xfrm>
            <a:off x="4937760" y="4370832"/>
            <a:ext cx="3840480" cy="347472"/>
          </a:xfrm>
          <a:prstGeom prst="rect">
            <a:avLst/>
          </a:prstGeom>
          <a:noFill/>
          <a:ln/>
        </p:spPr>
        <p:txBody>
          <a:bodyPr wrap="square" rtlCol="0" anchor="ctr"/>
          <a:lstStyle/>
          <a:p>
            <a:pPr indent="0" marL="0">
              <a:buNone/>
            </a:pPr>
            <a:r>
              <a:rPr lang="en-US" sz="900" i="1" dirty="0">
                <a:solidFill>
                  <a:srgbClr val="475569"/>
                </a:solidFill>
                <a:latin typeface="Calibri" pitchFamily="34" charset="0"/>
                <a:ea typeface="Calibri" pitchFamily="34" charset="-122"/>
                <a:cs typeface="Calibri" pitchFamily="34" charset="-120"/>
              </a:rPr>
              <a:t>e.g. GrimAge +11 years. Sample collected during acute infection with elevated WBC. Real signal?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37160"/>
            <a:ext cx="2743200" cy="274320"/>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RESULTS</a:t>
            </a:r>
            <a:endParaRPr lang="en-US" sz="900" dirty="0"/>
          </a:p>
        </p:txBody>
      </p:sp>
      <p:sp>
        <p:nvSpPr>
          <p:cNvPr id="4" name="Text 2"/>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Claude Sonnet 4.6 vs BioLLM across 200 scenarios</a:t>
            </a:r>
            <a:endParaRPr lang="en-US" sz="2600" dirty="0"/>
          </a:p>
        </p:txBody>
      </p:sp>
      <p:graphicFrame>
        <p:nvGraphicFramePr>
          <p:cNvPr id="5" name="Chart 0" descr=""/>
          <p:cNvGraphicFramePr/>
          <p:nvPr/>
        </p:nvGraphicFramePr>
        <p:xfrm>
          <a:off x="365760" y="1097280"/>
          <a:ext cx="5486400" cy="34747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035040" y="1097280"/>
            <a:ext cx="2743200" cy="1371600"/>
          </a:xfrm>
          <a:prstGeom prst="rect">
            <a:avLst/>
          </a:prstGeom>
          <a:solidFill>
            <a:srgbClr val="D1FAE5"/>
          </a:solidFill>
          <a:ln w="12700">
            <a:solidFill>
              <a:srgbClr val="10B981"/>
            </a:solidFill>
            <a:prstDash val="solid"/>
          </a:ln>
        </p:spPr>
      </p:sp>
      <p:sp>
        <p:nvSpPr>
          <p:cNvPr id="7" name="Shape 4"/>
          <p:cNvSpPr/>
          <p:nvPr/>
        </p:nvSpPr>
        <p:spPr>
          <a:xfrm>
            <a:off x="6035040" y="1097280"/>
            <a:ext cx="64008" cy="1371600"/>
          </a:xfrm>
          <a:prstGeom prst="rect">
            <a:avLst/>
          </a:prstGeom>
          <a:solidFill>
            <a:srgbClr val="10B981"/>
          </a:solidFill>
          <a:ln w="12700">
            <a:solidFill>
              <a:srgbClr val="10B981"/>
            </a:solidFill>
            <a:prstDash val="solid"/>
          </a:ln>
        </p:spPr>
      </p:sp>
      <p:sp>
        <p:nvSpPr>
          <p:cNvPr id="8" name="Text 5"/>
          <p:cNvSpPr/>
          <p:nvPr/>
        </p:nvSpPr>
        <p:spPr>
          <a:xfrm>
            <a:off x="6217920" y="1170432"/>
            <a:ext cx="2468880" cy="256032"/>
          </a:xfrm>
          <a:prstGeom prst="rect">
            <a:avLst/>
          </a:prstGeom>
          <a:noFill/>
          <a:ln/>
        </p:spPr>
        <p:txBody>
          <a:bodyPr wrap="square" rtlCol="0" anchor="ctr"/>
          <a:lstStyle/>
          <a:p>
            <a:pPr indent="0" marL="0">
              <a:buNone/>
            </a:pPr>
            <a:r>
              <a:rPr lang="en-US" sz="1000" b="1" dirty="0">
                <a:solidFill>
                  <a:srgbClr val="166534"/>
                </a:solidFill>
                <a:latin typeface="Calibri" pitchFamily="34" charset="0"/>
                <a:ea typeface="Calibri" pitchFamily="34" charset="-122"/>
                <a:cs typeface="Calibri" pitchFamily="34" charset="-120"/>
              </a:rPr>
              <a:t>Surprising finding</a:t>
            </a:r>
            <a:endParaRPr lang="en-US" sz="1000" dirty="0"/>
          </a:p>
        </p:txBody>
      </p:sp>
      <p:sp>
        <p:nvSpPr>
          <p:cNvPr id="9" name="Text 6"/>
          <p:cNvSpPr/>
          <p:nvPr/>
        </p:nvSpPr>
        <p:spPr>
          <a:xfrm>
            <a:off x="6217920" y="1417320"/>
            <a:ext cx="2468880" cy="91440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BioLLM beats Claude on intervention reasoning</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(45.0% vs 40.0%) — domain-specific training helps for longitudinal clinical trajectory tasks.</a:t>
            </a:r>
            <a:endParaRPr lang="en-US" sz="1000" dirty="0"/>
          </a:p>
        </p:txBody>
      </p:sp>
      <p:sp>
        <p:nvSpPr>
          <p:cNvPr id="10" name="Shape 7"/>
          <p:cNvSpPr/>
          <p:nvPr/>
        </p:nvSpPr>
        <p:spPr>
          <a:xfrm>
            <a:off x="6035040" y="2606040"/>
            <a:ext cx="2743200" cy="1097280"/>
          </a:xfrm>
          <a:prstGeom prst="rect">
            <a:avLst/>
          </a:prstGeom>
          <a:solidFill>
            <a:srgbClr val="FEE2E2"/>
          </a:solidFill>
          <a:ln w="12700">
            <a:solidFill>
              <a:srgbClr val="EF4444"/>
            </a:solidFill>
            <a:prstDash val="solid"/>
          </a:ln>
        </p:spPr>
      </p:sp>
      <p:sp>
        <p:nvSpPr>
          <p:cNvPr id="11" name="Shape 8"/>
          <p:cNvSpPr/>
          <p:nvPr/>
        </p:nvSpPr>
        <p:spPr>
          <a:xfrm>
            <a:off x="6035040" y="2606040"/>
            <a:ext cx="64008" cy="1097280"/>
          </a:xfrm>
          <a:prstGeom prst="rect">
            <a:avLst/>
          </a:prstGeom>
          <a:solidFill>
            <a:srgbClr val="EF4444"/>
          </a:solidFill>
          <a:ln w="12700">
            <a:solidFill>
              <a:srgbClr val="EF4444"/>
            </a:solidFill>
            <a:prstDash val="solid"/>
          </a:ln>
        </p:spPr>
      </p:sp>
      <p:sp>
        <p:nvSpPr>
          <p:cNvPr id="12" name="Text 9"/>
          <p:cNvSpPr/>
          <p:nvPr/>
        </p:nvSpPr>
        <p:spPr>
          <a:xfrm>
            <a:off x="6217920" y="2679192"/>
            <a:ext cx="2468880" cy="256032"/>
          </a:xfrm>
          <a:prstGeom prst="rect">
            <a:avLst/>
          </a:prstGeom>
          <a:noFill/>
          <a:ln/>
        </p:spPr>
        <p:txBody>
          <a:bodyPr wrap="square" rtlCol="0" anchor="ctr"/>
          <a:lstStyle/>
          <a:p>
            <a:pPr indent="0" marL="0">
              <a:buNone/>
            </a:pPr>
            <a:r>
              <a:rPr lang="en-US" sz="1000" b="1" dirty="0">
                <a:solidFill>
                  <a:srgbClr val="7F1D1D"/>
                </a:solidFill>
                <a:latin typeface="Calibri" pitchFamily="34" charset="0"/>
                <a:ea typeface="Calibri" pitchFamily="34" charset="-122"/>
                <a:cs typeface="Calibri" pitchFamily="34" charset="-120"/>
              </a:rPr>
              <a:t>Parse reliability</a:t>
            </a:r>
            <a:endParaRPr lang="en-US" sz="1000" dirty="0"/>
          </a:p>
        </p:txBody>
      </p:sp>
      <p:sp>
        <p:nvSpPr>
          <p:cNvPr id="13" name="Text 10"/>
          <p:cNvSpPr/>
          <p:nvPr/>
        </p:nvSpPr>
        <p:spPr>
          <a:xfrm>
            <a:off x="6217920" y="2926080"/>
            <a:ext cx="2468880" cy="68580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Claude: 0 failures / 200</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BioLLM: 16 failures / 200</a:t>
            </a:r>
            <a:endParaRPr lang="en-US" sz="1000" dirty="0"/>
          </a:p>
          <a:p>
            <a:pPr indent="0" marL="0">
              <a:buNone/>
            </a:pP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8% failure-to-respond rate is clinically unacceptable.</a:t>
            </a:r>
            <a:endParaRPr lang="en-US" sz="1000" dirty="0"/>
          </a:p>
        </p:txBody>
      </p:sp>
      <p:sp>
        <p:nvSpPr>
          <p:cNvPr id="14" name="Shape 11"/>
          <p:cNvSpPr/>
          <p:nvPr/>
        </p:nvSpPr>
        <p:spPr>
          <a:xfrm>
            <a:off x="6035040" y="3840480"/>
            <a:ext cx="1280160" cy="777240"/>
          </a:xfrm>
          <a:prstGeom prst="rect">
            <a:avLst/>
          </a:prstGeom>
          <a:solidFill>
            <a:srgbClr val="FFFFFF"/>
          </a:solidFill>
          <a:ln w="12700">
            <a:solidFill>
              <a:srgbClr val="E2E8F0"/>
            </a:solidFill>
            <a:prstDash val="solid"/>
          </a:ln>
        </p:spPr>
      </p:sp>
      <p:sp>
        <p:nvSpPr>
          <p:cNvPr id="15" name="Text 12"/>
          <p:cNvSpPr/>
          <p:nvPr/>
        </p:nvSpPr>
        <p:spPr>
          <a:xfrm>
            <a:off x="6035040" y="3886200"/>
            <a:ext cx="1280160" cy="384048"/>
          </a:xfrm>
          <a:prstGeom prst="rect">
            <a:avLst/>
          </a:prstGeom>
          <a:noFill/>
          <a:ln/>
        </p:spPr>
        <p:txBody>
          <a:bodyPr wrap="square" rtlCol="0" anchor="ctr"/>
          <a:lstStyle/>
          <a:p>
            <a:pPr algn="ctr" indent="0" marL="0">
              <a:buNone/>
            </a:pPr>
            <a:r>
              <a:rPr lang="en-US" sz="2200" b="1" dirty="0">
                <a:solidFill>
                  <a:srgbClr val="0D9488"/>
                </a:solidFill>
                <a:latin typeface="Calibri" pitchFamily="34" charset="0"/>
                <a:ea typeface="Calibri" pitchFamily="34" charset="-122"/>
                <a:cs typeface="Calibri" pitchFamily="34" charset="-120"/>
              </a:rPr>
              <a:t>77.2%</a:t>
            </a:r>
            <a:endParaRPr lang="en-US" sz="2200" dirty="0"/>
          </a:p>
        </p:txBody>
      </p:sp>
      <p:sp>
        <p:nvSpPr>
          <p:cNvPr id="16" name="Text 13"/>
          <p:cNvSpPr/>
          <p:nvPr/>
        </p:nvSpPr>
        <p:spPr>
          <a:xfrm>
            <a:off x="6035040" y="4270248"/>
            <a:ext cx="1280160" cy="256032"/>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Claude Sonnet 4.6</a:t>
            </a:r>
            <a:endParaRPr lang="en-US" sz="850" dirty="0"/>
          </a:p>
        </p:txBody>
      </p:sp>
      <p:sp>
        <p:nvSpPr>
          <p:cNvPr id="17" name="Shape 14"/>
          <p:cNvSpPr/>
          <p:nvPr/>
        </p:nvSpPr>
        <p:spPr>
          <a:xfrm>
            <a:off x="7452360" y="3840480"/>
            <a:ext cx="1280160" cy="777240"/>
          </a:xfrm>
          <a:prstGeom prst="rect">
            <a:avLst/>
          </a:prstGeom>
          <a:solidFill>
            <a:srgbClr val="FFFFFF"/>
          </a:solidFill>
          <a:ln w="12700">
            <a:solidFill>
              <a:srgbClr val="E2E8F0"/>
            </a:solidFill>
            <a:prstDash val="solid"/>
          </a:ln>
        </p:spPr>
      </p:sp>
      <p:sp>
        <p:nvSpPr>
          <p:cNvPr id="18" name="Text 15"/>
          <p:cNvSpPr/>
          <p:nvPr/>
        </p:nvSpPr>
        <p:spPr>
          <a:xfrm>
            <a:off x="7452360" y="3886200"/>
            <a:ext cx="1280160" cy="384048"/>
          </a:xfrm>
          <a:prstGeom prst="rect">
            <a:avLst/>
          </a:prstGeom>
          <a:noFill/>
          <a:ln/>
        </p:spPr>
        <p:txBody>
          <a:bodyPr wrap="square"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55.4%</a:t>
            </a:r>
            <a:endParaRPr lang="en-US" sz="2200" dirty="0"/>
          </a:p>
        </p:txBody>
      </p:sp>
      <p:sp>
        <p:nvSpPr>
          <p:cNvPr id="19" name="Text 16"/>
          <p:cNvSpPr/>
          <p:nvPr/>
        </p:nvSpPr>
        <p:spPr>
          <a:xfrm>
            <a:off x="7452360" y="4270248"/>
            <a:ext cx="1280160" cy="256032"/>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BioLLM</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97316"/>
          </a:solidFill>
          <a:ln w="12700">
            <a:solidFill>
              <a:srgbClr val="F97316"/>
            </a:solidFill>
            <a:prstDash val="solid"/>
          </a:ln>
        </p:spPr>
      </p:sp>
      <p:sp>
        <p:nvSpPr>
          <p:cNvPr id="3" name="Text 1"/>
          <p:cNvSpPr/>
          <p:nvPr/>
        </p:nvSpPr>
        <p:spPr>
          <a:xfrm>
            <a:off x="457200" y="137160"/>
            <a:ext cx="2743200" cy="274320"/>
          </a:xfrm>
          <a:prstGeom prst="rect">
            <a:avLst/>
          </a:prstGeom>
          <a:noFill/>
          <a:ln/>
        </p:spPr>
        <p:txBody>
          <a:bodyPr wrap="square"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FINDING</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Confounder blindness is the most dangerous gap</a:t>
            </a:r>
            <a:endParaRPr lang="en-US" sz="2800" dirty="0"/>
          </a:p>
        </p:txBody>
      </p:sp>
      <p:sp>
        <p:nvSpPr>
          <p:cNvPr id="5" name="Shape 3"/>
          <p:cNvSpPr/>
          <p:nvPr/>
        </p:nvSpPr>
        <p:spPr>
          <a:xfrm>
            <a:off x="365760" y="1188720"/>
            <a:ext cx="2011680" cy="2011680"/>
          </a:xfrm>
          <a:prstGeom prst="rect">
            <a:avLst/>
          </a:prstGeom>
          <a:solidFill>
            <a:srgbClr val="152032"/>
          </a:solidFill>
          <a:ln w="12700">
            <a:solidFill>
              <a:srgbClr val="F97316"/>
            </a:solidFill>
            <a:prstDash val="solid"/>
          </a:ln>
        </p:spPr>
      </p:sp>
      <p:sp>
        <p:nvSpPr>
          <p:cNvPr id="6" name="Text 4"/>
          <p:cNvSpPr/>
          <p:nvPr/>
        </p:nvSpPr>
        <p:spPr>
          <a:xfrm>
            <a:off x="365760" y="1371600"/>
            <a:ext cx="2011680" cy="822960"/>
          </a:xfrm>
          <a:prstGeom prst="rect">
            <a:avLst/>
          </a:prstGeom>
          <a:noFill/>
          <a:ln/>
        </p:spPr>
        <p:txBody>
          <a:bodyPr wrap="square" rtlCol="0" anchor="ctr"/>
          <a:lstStyle/>
          <a:p>
            <a:pPr algn="ctr" indent="0" marL="0">
              <a:buNone/>
            </a:pPr>
            <a:r>
              <a:rPr lang="en-US" sz="6400" b="1" dirty="0">
                <a:solidFill>
                  <a:srgbClr val="F97316"/>
                </a:solidFill>
                <a:latin typeface="Calibri" pitchFamily="34" charset="0"/>
                <a:ea typeface="Calibri" pitchFamily="34" charset="-122"/>
                <a:cs typeface="Calibri" pitchFamily="34" charset="-120"/>
              </a:rPr>
              <a:t>30</a:t>
            </a:r>
            <a:endParaRPr lang="en-US" sz="6400" dirty="0"/>
          </a:p>
        </p:txBody>
      </p:sp>
      <p:sp>
        <p:nvSpPr>
          <p:cNvPr id="7" name="Text 5"/>
          <p:cNvSpPr/>
          <p:nvPr/>
        </p:nvSpPr>
        <p:spPr>
          <a:xfrm>
            <a:off x="365760" y="2148840"/>
            <a:ext cx="2011680" cy="27432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point drop</a:t>
            </a:r>
            <a:endParaRPr lang="en-US" sz="1200" dirty="0"/>
          </a:p>
        </p:txBody>
      </p:sp>
      <p:sp>
        <p:nvSpPr>
          <p:cNvPr id="8" name="Text 6"/>
          <p:cNvSpPr/>
          <p:nvPr/>
        </p:nvSpPr>
        <p:spPr>
          <a:xfrm>
            <a:off x="365760" y="2423160"/>
            <a:ext cx="2011680" cy="27432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Claude: Type A → Type D</a:t>
            </a:r>
            <a:endParaRPr lang="en-US" sz="950" dirty="0"/>
          </a:p>
        </p:txBody>
      </p:sp>
      <p:sp>
        <p:nvSpPr>
          <p:cNvPr id="9" name="Text 7"/>
          <p:cNvSpPr/>
          <p:nvPr/>
        </p:nvSpPr>
        <p:spPr>
          <a:xfrm>
            <a:off x="365760" y="2697480"/>
            <a:ext cx="2011680" cy="274320"/>
          </a:xfrm>
          <a:prstGeom prst="rect">
            <a:avLst/>
          </a:prstGeom>
          <a:noFill/>
          <a:ln/>
        </p:spPr>
        <p:txBody>
          <a:bodyPr wrap="square" rtlCol="0" anchor="ctr"/>
          <a:lstStyle/>
          <a:p>
            <a:pPr algn="ctr" indent="0" marL="0">
              <a:buNone/>
            </a:pPr>
            <a:r>
              <a:rPr lang="en-US" sz="950" dirty="0">
                <a:solidFill>
                  <a:srgbClr val="F97316"/>
                </a:solidFill>
                <a:latin typeface="Calibri" pitchFamily="34" charset="0"/>
                <a:ea typeface="Calibri" pitchFamily="34" charset="-122"/>
                <a:cs typeface="Calibri" pitchFamily="34" charset="-120"/>
              </a:rPr>
              <a:t>(96.1% → 66.2%)</a:t>
            </a:r>
            <a:endParaRPr lang="en-US" sz="950" dirty="0"/>
          </a:p>
        </p:txBody>
      </p:sp>
      <p:sp>
        <p:nvSpPr>
          <p:cNvPr id="10" name="Shape 8"/>
          <p:cNvSpPr/>
          <p:nvPr/>
        </p:nvSpPr>
        <p:spPr>
          <a:xfrm>
            <a:off x="2606040" y="1188720"/>
            <a:ext cx="6172200" cy="2011680"/>
          </a:xfrm>
          <a:prstGeom prst="rect">
            <a:avLst/>
          </a:prstGeom>
          <a:solidFill>
            <a:srgbClr val="152032"/>
          </a:solidFill>
          <a:ln w="12700">
            <a:solidFill>
              <a:srgbClr val="1E3A4A"/>
            </a:solidFill>
            <a:prstDash val="solid"/>
          </a:ln>
        </p:spPr>
      </p:sp>
      <p:sp>
        <p:nvSpPr>
          <p:cNvPr id="11" name="Text 9"/>
          <p:cNvSpPr/>
          <p:nvPr/>
        </p:nvSpPr>
        <p:spPr>
          <a:xfrm>
            <a:off x="2834640" y="1325880"/>
            <a:ext cx="5760720"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Why this matters for clinical deployment:</a:t>
            </a:r>
            <a:endParaRPr lang="en-US" sz="1200" dirty="0"/>
          </a:p>
        </p:txBody>
      </p:sp>
      <p:sp>
        <p:nvSpPr>
          <p:cNvPr id="12" name="Text 10"/>
          <p:cNvSpPr/>
          <p:nvPr/>
        </p:nvSpPr>
        <p:spPr>
          <a:xfrm>
            <a:off x="2834640" y="1691640"/>
            <a:ext cx="5760720" cy="438912"/>
          </a:xfrm>
          <a:prstGeom prst="rect">
            <a:avLst/>
          </a:prstGeom>
          <a:noFill/>
          <a:ln/>
        </p:spPr>
        <p:txBody>
          <a:bodyPr wrap="square" rtlCol="0" anchor="ctr"/>
          <a:lstStyle/>
          <a:p>
            <a:pPr indent="0" marL="0">
              <a:buNone/>
            </a:pPr>
            <a:r>
              <a:rPr lang="en-US" sz="1100" b="1" dirty="0">
                <a:solidFill>
                  <a:srgbClr val="F97316"/>
                </a:solidFill>
                <a:latin typeface="Calibri" pitchFamily="34" charset="0"/>
                <a:ea typeface="Calibri" pitchFamily="34" charset="-122"/>
                <a:cs typeface="Calibri" pitchFamily="34" charset="-120"/>
              </a:rPr>
              <a:t>→  </a:t>
            </a:r>
            <a:pPr indent="0" marL="0">
              <a:buNone/>
            </a:pPr>
            <a:r>
              <a:rPr lang="en-US" sz="1100" dirty="0">
                <a:solidFill>
                  <a:srgbClr val="94A3B8"/>
                </a:solidFill>
                <a:latin typeface="Calibri" pitchFamily="34" charset="0"/>
                <a:ea typeface="Calibri" pitchFamily="34" charset="-122"/>
                <a:cs typeface="Calibri" pitchFamily="34" charset="-120"/>
              </a:rPr>
              <a:t>An AI that misses a confounder could flag a patient's elevated GrimAge as accelerated aging — when it's actually caused by a recent infection, chemotherapy, or sample degradation</a:t>
            </a:r>
            <a:endParaRPr lang="en-US" sz="1100" dirty="0"/>
          </a:p>
        </p:txBody>
      </p:sp>
      <p:sp>
        <p:nvSpPr>
          <p:cNvPr id="13" name="Text 11"/>
          <p:cNvSpPr/>
          <p:nvPr/>
        </p:nvSpPr>
        <p:spPr>
          <a:xfrm>
            <a:off x="2834640" y="2167128"/>
            <a:ext cx="5760720" cy="438912"/>
          </a:xfrm>
          <a:prstGeom prst="rect">
            <a:avLst/>
          </a:prstGeom>
          <a:noFill/>
          <a:ln/>
        </p:spPr>
        <p:txBody>
          <a:bodyPr wrap="square" rtlCol="0" anchor="ctr"/>
          <a:lstStyle/>
          <a:p>
            <a:pPr indent="0" marL="0">
              <a:buNone/>
            </a:pPr>
            <a:r>
              <a:rPr lang="en-US" sz="1100" b="1" dirty="0">
                <a:solidFill>
                  <a:srgbClr val="F97316"/>
                </a:solidFill>
                <a:latin typeface="Calibri" pitchFamily="34" charset="0"/>
                <a:ea typeface="Calibri" pitchFamily="34" charset="-122"/>
                <a:cs typeface="Calibri" pitchFamily="34" charset="-120"/>
              </a:rPr>
              <a:t>→  </a:t>
            </a:r>
            <a:pPr indent="0" marL="0">
              <a:buNone/>
            </a:pPr>
            <a:r>
              <a:rPr lang="en-US" sz="1100" dirty="0">
                <a:solidFill>
                  <a:srgbClr val="94A3B8"/>
                </a:solidFill>
                <a:latin typeface="Calibri" pitchFamily="34" charset="0"/>
                <a:ea typeface="Calibri" pitchFamily="34" charset="-122"/>
                <a:cs typeface="Calibri" pitchFamily="34" charset="-120"/>
              </a:rPr>
              <a:t>Both models failed most on Type D — even the stronger model (Claude, 66.2%) struggles to identify when clock results are unreliable</a:t>
            </a:r>
            <a:endParaRPr lang="en-US" sz="1100" dirty="0"/>
          </a:p>
        </p:txBody>
      </p:sp>
      <p:sp>
        <p:nvSpPr>
          <p:cNvPr id="14" name="Text 12"/>
          <p:cNvSpPr/>
          <p:nvPr/>
        </p:nvSpPr>
        <p:spPr>
          <a:xfrm>
            <a:off x="2834640" y="2642616"/>
            <a:ext cx="5760720" cy="438912"/>
          </a:xfrm>
          <a:prstGeom prst="rect">
            <a:avLst/>
          </a:prstGeom>
          <a:noFill/>
          <a:ln/>
        </p:spPr>
        <p:txBody>
          <a:bodyPr wrap="square" rtlCol="0" anchor="ctr"/>
          <a:lstStyle/>
          <a:p>
            <a:pPr indent="0" marL="0">
              <a:buNone/>
            </a:pPr>
            <a:r>
              <a:rPr lang="en-US" sz="1100" b="1" dirty="0">
                <a:solidFill>
                  <a:srgbClr val="F97316"/>
                </a:solidFill>
                <a:latin typeface="Calibri" pitchFamily="34" charset="0"/>
                <a:ea typeface="Calibri" pitchFamily="34" charset="-122"/>
                <a:cs typeface="Calibri" pitchFamily="34" charset="-120"/>
              </a:rPr>
              <a:t>→  </a:t>
            </a:r>
            <a:pPr indent="0" marL="0">
              <a:buNone/>
            </a:pPr>
            <a:r>
              <a:rPr lang="en-US" sz="1100" dirty="0">
                <a:solidFill>
                  <a:srgbClr val="94A3B8"/>
                </a:solidFill>
                <a:latin typeface="Calibri" pitchFamily="34" charset="0"/>
                <a:ea typeface="Calibri" pitchFamily="34" charset="-122"/>
                <a:cs typeface="Calibri" pitchFamily="34" charset="-120"/>
              </a:rPr>
              <a:t>BioLLM scored only 34.6% on confounders despite domain-specific training — specialized biology training does not solve this problem</a:t>
            </a:r>
            <a:endParaRPr lang="en-US" sz="1100" dirty="0"/>
          </a:p>
        </p:txBody>
      </p:sp>
      <p:sp>
        <p:nvSpPr>
          <p:cNvPr id="15" name="Shape 13"/>
          <p:cNvSpPr/>
          <p:nvPr/>
        </p:nvSpPr>
        <p:spPr>
          <a:xfrm>
            <a:off x="365760" y="3383280"/>
            <a:ext cx="8412480" cy="1417320"/>
          </a:xfrm>
          <a:prstGeom prst="rect">
            <a:avLst/>
          </a:prstGeom>
          <a:solidFill>
            <a:srgbClr val="1A0A00"/>
          </a:solidFill>
          <a:ln w="12700">
            <a:solidFill>
              <a:srgbClr val="F97316"/>
            </a:solidFill>
            <a:prstDash val="solid"/>
          </a:ln>
        </p:spPr>
      </p:sp>
      <p:sp>
        <p:nvSpPr>
          <p:cNvPr id="16" name="Shape 14"/>
          <p:cNvSpPr/>
          <p:nvPr/>
        </p:nvSpPr>
        <p:spPr>
          <a:xfrm>
            <a:off x="365760" y="3383280"/>
            <a:ext cx="73152" cy="1417320"/>
          </a:xfrm>
          <a:prstGeom prst="rect">
            <a:avLst/>
          </a:prstGeom>
          <a:solidFill>
            <a:srgbClr val="F97316"/>
          </a:solidFill>
          <a:ln w="12700">
            <a:solidFill>
              <a:srgbClr val="F97316"/>
            </a:solidFill>
            <a:prstDash val="solid"/>
          </a:ln>
        </p:spPr>
      </p:sp>
      <p:sp>
        <p:nvSpPr>
          <p:cNvPr id="17" name="Text 15"/>
          <p:cNvSpPr/>
          <p:nvPr/>
        </p:nvSpPr>
        <p:spPr>
          <a:xfrm>
            <a:off x="594360" y="3474720"/>
            <a:ext cx="8046720" cy="274320"/>
          </a:xfrm>
          <a:prstGeom prst="rect">
            <a:avLst/>
          </a:prstGeom>
          <a:noFill/>
          <a:ln/>
        </p:spPr>
        <p:txBody>
          <a:bodyPr wrap="square" rtlCol="0" anchor="ctr"/>
          <a:lstStyle/>
          <a:p>
            <a:pPr indent="0" marL="0">
              <a:buNone/>
            </a:pPr>
            <a:r>
              <a:rPr lang="en-US" sz="1100" b="1" dirty="0">
                <a:solidFill>
                  <a:srgbClr val="F97316"/>
                </a:solidFill>
                <a:latin typeface="Calibri" pitchFamily="34" charset="0"/>
                <a:ea typeface="Calibri" pitchFamily="34" charset="-122"/>
                <a:cs typeface="Calibri" pitchFamily="34" charset="-120"/>
              </a:rPr>
              <a:t>Implication</a:t>
            </a:r>
            <a:endParaRPr lang="en-US" sz="1100" dirty="0"/>
          </a:p>
        </p:txBody>
      </p:sp>
      <p:sp>
        <p:nvSpPr>
          <p:cNvPr id="18" name="Text 16"/>
          <p:cNvSpPr/>
          <p:nvPr/>
        </p:nvSpPr>
        <p:spPr>
          <a:xfrm>
            <a:off x="594360" y="3749040"/>
            <a:ext cx="8046720" cy="822960"/>
          </a:xfrm>
          <a:prstGeom prst="rect">
            <a:avLst/>
          </a:prstGeom>
          <a:noFill/>
          <a:ln/>
        </p:spPr>
        <p:txBody>
          <a:bodyPr wrap="square" rtlCol="0" anchor="ctr"/>
          <a:lstStyle/>
          <a:p>
            <a:pPr indent="0" marL="0">
              <a:buNone/>
            </a:pPr>
            <a:r>
              <a:rPr lang="en-US" sz="1200" dirty="0">
                <a:solidFill>
                  <a:srgbClr val="FED7AA"/>
                </a:solidFill>
                <a:latin typeface="Calibri" pitchFamily="34" charset="0"/>
                <a:ea typeface="Calibri" pitchFamily="34" charset="-122"/>
                <a:cs typeface="Calibri" pitchFamily="34" charset="-120"/>
              </a:rPr>
              <a:t>Before deploying any LLM in longevity or clinical epigenetics contexts, confounder awareness must be explicitly evaluated. ECRB provides the first standardized way to do this. No benchmark existed before this work.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37160"/>
            <a:ext cx="2743200" cy="274320"/>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TECH STACK</a:t>
            </a:r>
            <a:endParaRPr lang="en-US" sz="900" dirty="0"/>
          </a:p>
        </p:txBody>
      </p:sp>
      <p:sp>
        <p:nvSpPr>
          <p:cNvPr id="4" name="Text 2"/>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Built with open source tools and real research data</a:t>
            </a:r>
            <a:endParaRPr lang="en-US" sz="2600" dirty="0"/>
          </a:p>
        </p:txBody>
      </p:sp>
      <p:sp>
        <p:nvSpPr>
          <p:cNvPr id="5" name="Shape 3"/>
          <p:cNvSpPr/>
          <p:nvPr/>
        </p:nvSpPr>
        <p:spPr>
          <a:xfrm>
            <a:off x="365760" y="1188720"/>
            <a:ext cx="2743200" cy="35661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8000"/>
              </a:srgbClr>
            </a:outerShdw>
          </a:effectLst>
        </p:spPr>
      </p:sp>
      <p:sp>
        <p:nvSpPr>
          <p:cNvPr id="6" name="Shape 4"/>
          <p:cNvSpPr/>
          <p:nvPr/>
        </p:nvSpPr>
        <p:spPr>
          <a:xfrm>
            <a:off x="365760" y="1188720"/>
            <a:ext cx="2743200" cy="54864"/>
          </a:xfrm>
          <a:prstGeom prst="rect">
            <a:avLst/>
          </a:prstGeom>
          <a:solidFill>
            <a:srgbClr val="3B82F6"/>
          </a:solidFill>
          <a:ln w="12700">
            <a:solidFill>
              <a:srgbClr val="3B82F6"/>
            </a:solidFill>
            <a:prstDash val="solid"/>
          </a:ln>
        </p:spPr>
      </p:sp>
      <p:sp>
        <p:nvSpPr>
          <p:cNvPr id="7" name="Text 5"/>
          <p:cNvSpPr/>
          <p:nvPr/>
        </p:nvSpPr>
        <p:spPr>
          <a:xfrm>
            <a:off x="548640" y="1298448"/>
            <a:ext cx="2377440" cy="32004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Simulation</a:t>
            </a:r>
            <a:endParaRPr lang="en-US" sz="1400" dirty="0"/>
          </a:p>
        </p:txBody>
      </p:sp>
      <p:sp>
        <p:nvSpPr>
          <p:cNvPr id="8" name="Shape 6"/>
          <p:cNvSpPr/>
          <p:nvPr/>
        </p:nvSpPr>
        <p:spPr>
          <a:xfrm>
            <a:off x="548640" y="1737360"/>
            <a:ext cx="54864" cy="237744"/>
          </a:xfrm>
          <a:prstGeom prst="rect">
            <a:avLst/>
          </a:prstGeom>
          <a:solidFill>
            <a:srgbClr val="3B82F6"/>
          </a:solidFill>
          <a:ln w="12700">
            <a:solidFill>
              <a:srgbClr val="3B82F6"/>
            </a:solidFill>
            <a:prstDash val="solid"/>
          </a:ln>
        </p:spPr>
      </p:sp>
      <p:sp>
        <p:nvSpPr>
          <p:cNvPr id="9" name="Text 7"/>
          <p:cNvSpPr/>
          <p:nvPr/>
        </p:nvSpPr>
        <p:spPr>
          <a:xfrm>
            <a:off x="731520" y="1719072"/>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MESA 3.0 — agent-based modeling</a:t>
            </a:r>
            <a:endParaRPr lang="en-US" sz="1100" dirty="0"/>
          </a:p>
        </p:txBody>
      </p:sp>
      <p:sp>
        <p:nvSpPr>
          <p:cNvPr id="10" name="Shape 8"/>
          <p:cNvSpPr/>
          <p:nvPr/>
        </p:nvSpPr>
        <p:spPr>
          <a:xfrm>
            <a:off x="548640" y="2249424"/>
            <a:ext cx="54864" cy="237744"/>
          </a:xfrm>
          <a:prstGeom prst="rect">
            <a:avLst/>
          </a:prstGeom>
          <a:solidFill>
            <a:srgbClr val="3B82F6"/>
          </a:solidFill>
          <a:ln w="12700">
            <a:solidFill>
              <a:srgbClr val="3B82F6"/>
            </a:solidFill>
            <a:prstDash val="solid"/>
          </a:ln>
        </p:spPr>
      </p:sp>
      <p:sp>
        <p:nvSpPr>
          <p:cNvPr id="11" name="Text 9"/>
          <p:cNvSpPr/>
          <p:nvPr/>
        </p:nvSpPr>
        <p:spPr>
          <a:xfrm>
            <a:off x="731520" y="2231136"/>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Python, NumPy, pandas, SciPy</a:t>
            </a:r>
            <a:endParaRPr lang="en-US" sz="1100" dirty="0"/>
          </a:p>
        </p:txBody>
      </p:sp>
      <p:sp>
        <p:nvSpPr>
          <p:cNvPr id="12" name="Shape 10"/>
          <p:cNvSpPr/>
          <p:nvPr/>
        </p:nvSpPr>
        <p:spPr>
          <a:xfrm>
            <a:off x="548640" y="2761488"/>
            <a:ext cx="54864" cy="237744"/>
          </a:xfrm>
          <a:prstGeom prst="rect">
            <a:avLst/>
          </a:prstGeom>
          <a:solidFill>
            <a:srgbClr val="3B82F6"/>
          </a:solidFill>
          <a:ln w="12700">
            <a:solidFill>
              <a:srgbClr val="3B82F6"/>
            </a:solidFill>
            <a:prstDash val="solid"/>
          </a:ln>
        </p:spPr>
      </p:sp>
      <p:sp>
        <p:nvSpPr>
          <p:cNvPr id="13" name="Text 11"/>
          <p:cNvSpPr/>
          <p:nvPr/>
        </p:nvSpPr>
        <p:spPr>
          <a:xfrm>
            <a:off x="731520" y="2743200"/>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GEOparse — GEO dataset download</a:t>
            </a:r>
            <a:endParaRPr lang="en-US" sz="1100" dirty="0"/>
          </a:p>
        </p:txBody>
      </p:sp>
      <p:sp>
        <p:nvSpPr>
          <p:cNvPr id="14" name="Shape 12"/>
          <p:cNvSpPr/>
          <p:nvPr/>
        </p:nvSpPr>
        <p:spPr>
          <a:xfrm>
            <a:off x="548640" y="3273552"/>
            <a:ext cx="54864" cy="237744"/>
          </a:xfrm>
          <a:prstGeom prst="rect">
            <a:avLst/>
          </a:prstGeom>
          <a:solidFill>
            <a:srgbClr val="3B82F6"/>
          </a:solidFill>
          <a:ln w="12700">
            <a:solidFill>
              <a:srgbClr val="3B82F6"/>
            </a:solidFill>
            <a:prstDash val="solid"/>
          </a:ln>
        </p:spPr>
      </p:sp>
      <p:sp>
        <p:nvSpPr>
          <p:cNvPr id="15" name="Text 13"/>
          <p:cNvSpPr/>
          <p:nvPr/>
        </p:nvSpPr>
        <p:spPr>
          <a:xfrm>
            <a:off x="731520" y="3255264"/>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pyaging — clock computation</a:t>
            </a:r>
            <a:endParaRPr lang="en-US" sz="1100" dirty="0"/>
          </a:p>
        </p:txBody>
      </p:sp>
      <p:sp>
        <p:nvSpPr>
          <p:cNvPr id="16" name="Shape 14"/>
          <p:cNvSpPr/>
          <p:nvPr/>
        </p:nvSpPr>
        <p:spPr>
          <a:xfrm>
            <a:off x="548640" y="3785616"/>
            <a:ext cx="54864" cy="237744"/>
          </a:xfrm>
          <a:prstGeom prst="rect">
            <a:avLst/>
          </a:prstGeom>
          <a:solidFill>
            <a:srgbClr val="3B82F6"/>
          </a:solidFill>
          <a:ln w="12700">
            <a:solidFill>
              <a:srgbClr val="3B82F6"/>
            </a:solidFill>
            <a:prstDash val="solid"/>
          </a:ln>
        </p:spPr>
      </p:sp>
      <p:sp>
        <p:nvSpPr>
          <p:cNvPr id="17" name="Text 15"/>
          <p:cNvSpPr/>
          <p:nvPr/>
        </p:nvSpPr>
        <p:spPr>
          <a:xfrm>
            <a:off x="731520" y="3767328"/>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SALib — sensitivity analysis</a:t>
            </a:r>
            <a:endParaRPr lang="en-US" sz="1100" dirty="0"/>
          </a:p>
        </p:txBody>
      </p:sp>
      <p:sp>
        <p:nvSpPr>
          <p:cNvPr id="18" name="Shape 16"/>
          <p:cNvSpPr/>
          <p:nvPr/>
        </p:nvSpPr>
        <p:spPr>
          <a:xfrm>
            <a:off x="3291840" y="1188720"/>
            <a:ext cx="2743200" cy="35661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8000"/>
              </a:srgbClr>
            </a:outerShdw>
          </a:effectLst>
        </p:spPr>
      </p:sp>
      <p:sp>
        <p:nvSpPr>
          <p:cNvPr id="19" name="Shape 17"/>
          <p:cNvSpPr/>
          <p:nvPr/>
        </p:nvSpPr>
        <p:spPr>
          <a:xfrm>
            <a:off x="3291840" y="1188720"/>
            <a:ext cx="2743200" cy="54864"/>
          </a:xfrm>
          <a:prstGeom prst="rect">
            <a:avLst/>
          </a:prstGeom>
          <a:solidFill>
            <a:srgbClr val="0D9488"/>
          </a:solidFill>
          <a:ln w="12700">
            <a:solidFill>
              <a:srgbClr val="0D9488"/>
            </a:solidFill>
            <a:prstDash val="solid"/>
          </a:ln>
        </p:spPr>
      </p:sp>
      <p:sp>
        <p:nvSpPr>
          <p:cNvPr id="20" name="Text 18"/>
          <p:cNvSpPr/>
          <p:nvPr/>
        </p:nvSpPr>
        <p:spPr>
          <a:xfrm>
            <a:off x="3474720" y="1298448"/>
            <a:ext cx="2377440" cy="32004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AI &amp; Evaluation</a:t>
            </a:r>
            <a:endParaRPr lang="en-US" sz="1400" dirty="0"/>
          </a:p>
        </p:txBody>
      </p:sp>
      <p:sp>
        <p:nvSpPr>
          <p:cNvPr id="21" name="Shape 19"/>
          <p:cNvSpPr/>
          <p:nvPr/>
        </p:nvSpPr>
        <p:spPr>
          <a:xfrm>
            <a:off x="3474720" y="1737360"/>
            <a:ext cx="54864" cy="237744"/>
          </a:xfrm>
          <a:prstGeom prst="rect">
            <a:avLst/>
          </a:prstGeom>
          <a:solidFill>
            <a:srgbClr val="0D9488"/>
          </a:solidFill>
          <a:ln w="12700">
            <a:solidFill>
              <a:srgbClr val="0D9488"/>
            </a:solidFill>
            <a:prstDash val="solid"/>
          </a:ln>
        </p:spPr>
      </p:sp>
      <p:sp>
        <p:nvSpPr>
          <p:cNvPr id="22" name="Text 20"/>
          <p:cNvSpPr/>
          <p:nvPr/>
        </p:nvSpPr>
        <p:spPr>
          <a:xfrm>
            <a:off x="3657600" y="1719072"/>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Claude Haiku — scenario generation</a:t>
            </a:r>
            <a:endParaRPr lang="en-US" sz="1100" dirty="0"/>
          </a:p>
        </p:txBody>
      </p:sp>
      <p:sp>
        <p:nvSpPr>
          <p:cNvPr id="23" name="Shape 21"/>
          <p:cNvSpPr/>
          <p:nvPr/>
        </p:nvSpPr>
        <p:spPr>
          <a:xfrm>
            <a:off x="3474720" y="2249424"/>
            <a:ext cx="54864" cy="237744"/>
          </a:xfrm>
          <a:prstGeom prst="rect">
            <a:avLst/>
          </a:prstGeom>
          <a:solidFill>
            <a:srgbClr val="0D9488"/>
          </a:solidFill>
          <a:ln w="12700">
            <a:solidFill>
              <a:srgbClr val="0D9488"/>
            </a:solidFill>
            <a:prstDash val="solid"/>
          </a:ln>
        </p:spPr>
      </p:sp>
      <p:sp>
        <p:nvSpPr>
          <p:cNvPr id="24" name="Text 22"/>
          <p:cNvSpPr/>
          <p:nvPr/>
        </p:nvSpPr>
        <p:spPr>
          <a:xfrm>
            <a:off x="3657600" y="2231136"/>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Claude Sonnet 4.6 — evaluation</a:t>
            </a:r>
            <a:endParaRPr lang="en-US" sz="1100" dirty="0"/>
          </a:p>
        </p:txBody>
      </p:sp>
      <p:sp>
        <p:nvSpPr>
          <p:cNvPr id="25" name="Shape 23"/>
          <p:cNvSpPr/>
          <p:nvPr/>
        </p:nvSpPr>
        <p:spPr>
          <a:xfrm>
            <a:off x="3474720" y="2761488"/>
            <a:ext cx="54864" cy="237744"/>
          </a:xfrm>
          <a:prstGeom prst="rect">
            <a:avLst/>
          </a:prstGeom>
          <a:solidFill>
            <a:srgbClr val="0D9488"/>
          </a:solidFill>
          <a:ln w="12700">
            <a:solidFill>
              <a:srgbClr val="0D9488"/>
            </a:solidFill>
            <a:prstDash val="solid"/>
          </a:ln>
        </p:spPr>
      </p:sp>
      <p:sp>
        <p:nvSpPr>
          <p:cNvPr id="26" name="Text 24"/>
          <p:cNvSpPr/>
          <p:nvPr/>
        </p:nvSpPr>
        <p:spPr>
          <a:xfrm>
            <a:off x="3657600" y="2743200"/>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BioLLM (HuggingFace) — evaluation</a:t>
            </a:r>
            <a:endParaRPr lang="en-US" sz="1100" dirty="0"/>
          </a:p>
        </p:txBody>
      </p:sp>
      <p:sp>
        <p:nvSpPr>
          <p:cNvPr id="27" name="Shape 25"/>
          <p:cNvSpPr/>
          <p:nvPr/>
        </p:nvSpPr>
        <p:spPr>
          <a:xfrm>
            <a:off x="3474720" y="3273552"/>
            <a:ext cx="54864" cy="237744"/>
          </a:xfrm>
          <a:prstGeom prst="rect">
            <a:avLst/>
          </a:prstGeom>
          <a:solidFill>
            <a:srgbClr val="0D9488"/>
          </a:solidFill>
          <a:ln w="12700">
            <a:solidFill>
              <a:srgbClr val="0D9488"/>
            </a:solidFill>
            <a:prstDash val="solid"/>
          </a:ln>
        </p:spPr>
      </p:sp>
      <p:sp>
        <p:nvSpPr>
          <p:cNvPr id="28" name="Text 26"/>
          <p:cNvSpPr/>
          <p:nvPr/>
        </p:nvSpPr>
        <p:spPr>
          <a:xfrm>
            <a:off x="3657600" y="3255264"/>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FastAPI — backend API</a:t>
            </a:r>
            <a:endParaRPr lang="en-US" sz="1100" dirty="0"/>
          </a:p>
        </p:txBody>
      </p:sp>
      <p:sp>
        <p:nvSpPr>
          <p:cNvPr id="29" name="Shape 27"/>
          <p:cNvSpPr/>
          <p:nvPr/>
        </p:nvSpPr>
        <p:spPr>
          <a:xfrm>
            <a:off x="3474720" y="3785616"/>
            <a:ext cx="54864" cy="237744"/>
          </a:xfrm>
          <a:prstGeom prst="rect">
            <a:avLst/>
          </a:prstGeom>
          <a:solidFill>
            <a:srgbClr val="0D9488"/>
          </a:solidFill>
          <a:ln w="12700">
            <a:solidFill>
              <a:srgbClr val="0D9488"/>
            </a:solidFill>
            <a:prstDash val="solid"/>
          </a:ln>
        </p:spPr>
      </p:sp>
      <p:sp>
        <p:nvSpPr>
          <p:cNvPr id="30" name="Text 28"/>
          <p:cNvSpPr/>
          <p:nvPr/>
        </p:nvSpPr>
        <p:spPr>
          <a:xfrm>
            <a:off x="3657600" y="3767328"/>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Anthropic Python SDK</a:t>
            </a:r>
            <a:endParaRPr lang="en-US" sz="1100" dirty="0"/>
          </a:p>
        </p:txBody>
      </p:sp>
      <p:sp>
        <p:nvSpPr>
          <p:cNvPr id="31" name="Shape 29"/>
          <p:cNvSpPr/>
          <p:nvPr/>
        </p:nvSpPr>
        <p:spPr>
          <a:xfrm>
            <a:off x="6217920" y="1188720"/>
            <a:ext cx="2743200" cy="35661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18000"/>
              </a:srgbClr>
            </a:outerShdw>
          </a:effectLst>
        </p:spPr>
      </p:sp>
      <p:sp>
        <p:nvSpPr>
          <p:cNvPr id="32" name="Shape 30"/>
          <p:cNvSpPr/>
          <p:nvPr/>
        </p:nvSpPr>
        <p:spPr>
          <a:xfrm>
            <a:off x="6217920" y="1188720"/>
            <a:ext cx="2743200" cy="54864"/>
          </a:xfrm>
          <a:prstGeom prst="rect">
            <a:avLst/>
          </a:prstGeom>
          <a:solidFill>
            <a:srgbClr val="F97316"/>
          </a:solidFill>
          <a:ln w="12700">
            <a:solidFill>
              <a:srgbClr val="F97316"/>
            </a:solidFill>
            <a:prstDash val="solid"/>
          </a:ln>
        </p:spPr>
      </p:sp>
      <p:sp>
        <p:nvSpPr>
          <p:cNvPr id="33" name="Text 31"/>
          <p:cNvSpPr/>
          <p:nvPr/>
        </p:nvSpPr>
        <p:spPr>
          <a:xfrm>
            <a:off x="6400800" y="1298448"/>
            <a:ext cx="2377440" cy="32004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Frontend</a:t>
            </a:r>
            <a:endParaRPr lang="en-US" sz="1400" dirty="0"/>
          </a:p>
        </p:txBody>
      </p:sp>
      <p:sp>
        <p:nvSpPr>
          <p:cNvPr id="34" name="Shape 32"/>
          <p:cNvSpPr/>
          <p:nvPr/>
        </p:nvSpPr>
        <p:spPr>
          <a:xfrm>
            <a:off x="6400800" y="1737360"/>
            <a:ext cx="54864" cy="237744"/>
          </a:xfrm>
          <a:prstGeom prst="rect">
            <a:avLst/>
          </a:prstGeom>
          <a:solidFill>
            <a:srgbClr val="F97316"/>
          </a:solidFill>
          <a:ln w="12700">
            <a:solidFill>
              <a:srgbClr val="F97316"/>
            </a:solidFill>
            <a:prstDash val="solid"/>
          </a:ln>
        </p:spPr>
      </p:sp>
      <p:sp>
        <p:nvSpPr>
          <p:cNvPr id="35" name="Text 33"/>
          <p:cNvSpPr/>
          <p:nvPr/>
        </p:nvSpPr>
        <p:spPr>
          <a:xfrm>
            <a:off x="6583680" y="1719072"/>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React + TypeScript</a:t>
            </a:r>
            <a:endParaRPr lang="en-US" sz="1100" dirty="0"/>
          </a:p>
        </p:txBody>
      </p:sp>
      <p:sp>
        <p:nvSpPr>
          <p:cNvPr id="36" name="Shape 34"/>
          <p:cNvSpPr/>
          <p:nvPr/>
        </p:nvSpPr>
        <p:spPr>
          <a:xfrm>
            <a:off x="6400800" y="2249424"/>
            <a:ext cx="54864" cy="237744"/>
          </a:xfrm>
          <a:prstGeom prst="rect">
            <a:avLst/>
          </a:prstGeom>
          <a:solidFill>
            <a:srgbClr val="F97316"/>
          </a:solidFill>
          <a:ln w="12700">
            <a:solidFill>
              <a:srgbClr val="F97316"/>
            </a:solidFill>
            <a:prstDash val="solid"/>
          </a:ln>
        </p:spPr>
      </p:sp>
      <p:sp>
        <p:nvSpPr>
          <p:cNvPr id="37" name="Text 35"/>
          <p:cNvSpPr/>
          <p:nvPr/>
        </p:nvSpPr>
        <p:spPr>
          <a:xfrm>
            <a:off x="6583680" y="2231136"/>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deck.gl — live cell simulation viz</a:t>
            </a:r>
            <a:endParaRPr lang="en-US" sz="1100" dirty="0"/>
          </a:p>
        </p:txBody>
      </p:sp>
      <p:sp>
        <p:nvSpPr>
          <p:cNvPr id="38" name="Shape 36"/>
          <p:cNvSpPr/>
          <p:nvPr/>
        </p:nvSpPr>
        <p:spPr>
          <a:xfrm>
            <a:off x="6400800" y="2761488"/>
            <a:ext cx="54864" cy="237744"/>
          </a:xfrm>
          <a:prstGeom prst="rect">
            <a:avLst/>
          </a:prstGeom>
          <a:solidFill>
            <a:srgbClr val="F97316"/>
          </a:solidFill>
          <a:ln w="12700">
            <a:solidFill>
              <a:srgbClr val="F97316"/>
            </a:solidFill>
            <a:prstDash val="solid"/>
          </a:ln>
        </p:spPr>
      </p:sp>
      <p:sp>
        <p:nvSpPr>
          <p:cNvPr id="39" name="Text 37"/>
          <p:cNvSpPr/>
          <p:nvPr/>
        </p:nvSpPr>
        <p:spPr>
          <a:xfrm>
            <a:off x="6583680" y="2743200"/>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Recharts — score breakdowns</a:t>
            </a:r>
            <a:endParaRPr lang="en-US" sz="1100" dirty="0"/>
          </a:p>
        </p:txBody>
      </p:sp>
      <p:sp>
        <p:nvSpPr>
          <p:cNvPr id="40" name="Shape 38"/>
          <p:cNvSpPr/>
          <p:nvPr/>
        </p:nvSpPr>
        <p:spPr>
          <a:xfrm>
            <a:off x="6400800" y="3273552"/>
            <a:ext cx="54864" cy="237744"/>
          </a:xfrm>
          <a:prstGeom prst="rect">
            <a:avLst/>
          </a:prstGeom>
          <a:solidFill>
            <a:srgbClr val="F97316"/>
          </a:solidFill>
          <a:ln w="12700">
            <a:solidFill>
              <a:srgbClr val="F97316"/>
            </a:solidFill>
            <a:prstDash val="solid"/>
          </a:ln>
        </p:spPr>
      </p:sp>
      <p:sp>
        <p:nvSpPr>
          <p:cNvPr id="41" name="Text 39"/>
          <p:cNvSpPr/>
          <p:nvPr/>
        </p:nvSpPr>
        <p:spPr>
          <a:xfrm>
            <a:off x="6583680" y="3255264"/>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Tailwind CSS</a:t>
            </a:r>
            <a:endParaRPr lang="en-US" sz="1100" dirty="0"/>
          </a:p>
        </p:txBody>
      </p:sp>
      <p:sp>
        <p:nvSpPr>
          <p:cNvPr id="42" name="Shape 40"/>
          <p:cNvSpPr/>
          <p:nvPr/>
        </p:nvSpPr>
        <p:spPr>
          <a:xfrm>
            <a:off x="6400800" y="3785616"/>
            <a:ext cx="54864" cy="237744"/>
          </a:xfrm>
          <a:prstGeom prst="rect">
            <a:avLst/>
          </a:prstGeom>
          <a:solidFill>
            <a:srgbClr val="F97316"/>
          </a:solidFill>
          <a:ln w="12700">
            <a:solidFill>
              <a:srgbClr val="F97316"/>
            </a:solidFill>
            <a:prstDash val="solid"/>
          </a:ln>
        </p:spPr>
      </p:sp>
      <p:sp>
        <p:nvSpPr>
          <p:cNvPr id="43" name="Text 41"/>
          <p:cNvSpPr/>
          <p:nvPr/>
        </p:nvSpPr>
        <p:spPr>
          <a:xfrm>
            <a:off x="6583680" y="3767328"/>
            <a:ext cx="2286000" cy="292608"/>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Lovable — deployment</a:t>
            </a:r>
            <a:endParaRPr lang="en-US" sz="1100" dirty="0"/>
          </a:p>
        </p:txBody>
      </p:sp>
      <p:sp>
        <p:nvSpPr>
          <p:cNvPr id="44" name="Shape 42"/>
          <p:cNvSpPr/>
          <p:nvPr/>
        </p:nvSpPr>
        <p:spPr>
          <a:xfrm>
            <a:off x="365760" y="4663440"/>
            <a:ext cx="8412480" cy="320040"/>
          </a:xfrm>
          <a:prstGeom prst="rect">
            <a:avLst/>
          </a:prstGeom>
          <a:solidFill>
            <a:srgbClr val="CCFBF1"/>
          </a:solidFill>
          <a:ln w="12700">
            <a:solidFill>
              <a:srgbClr val="0D9488"/>
            </a:solidFill>
            <a:prstDash val="solid"/>
          </a:ln>
        </p:spPr>
      </p:sp>
      <p:sp>
        <p:nvSpPr>
          <p:cNvPr id="45" name="Text 43"/>
          <p:cNvSpPr/>
          <p:nvPr/>
        </p:nvSpPr>
        <p:spPr>
          <a:xfrm>
            <a:off x="548640" y="4690872"/>
            <a:ext cx="8046720" cy="256032"/>
          </a:xfrm>
          <a:prstGeom prst="rect">
            <a:avLst/>
          </a:prstGeom>
          <a:noFill/>
          <a:ln/>
        </p:spPr>
        <p:txBody>
          <a:bodyPr wrap="square" rtlCol="0" anchor="ctr"/>
          <a:lstStyle/>
          <a:p>
            <a:pPr algn="ctr" indent="0" marL="0">
              <a:buNone/>
            </a:pPr>
            <a:r>
              <a:rPr lang="en-US" sz="950" dirty="0">
                <a:solidFill>
                  <a:srgbClr val="0F766E"/>
                </a:solidFill>
                <a:latin typeface="Calibri" pitchFamily="34" charset="0"/>
                <a:ea typeface="Calibri" pitchFamily="34" charset="-122"/>
                <a:cs typeface="Calibri" pitchFamily="34" charset="-120"/>
              </a:rPr>
              <a:t>Data: NCBI GEO GSE40279 (656 samples, ages 19-101)  ·  GSE51057 (329 multi-tissue samples)  ·  102k+ age-correlated CpG sites (r² &gt; 0.02)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457200" y="137160"/>
            <a:ext cx="3657600" cy="274320"/>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IMPACT &amp; NEXT STEPS</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First benchmark for epigenetic clock reasoning in LLMs</a:t>
            </a:r>
            <a:endParaRPr lang="en-US" sz="2600" dirty="0"/>
          </a:p>
        </p:txBody>
      </p:sp>
      <p:sp>
        <p:nvSpPr>
          <p:cNvPr id="5" name="Shape 3"/>
          <p:cNvSpPr/>
          <p:nvPr/>
        </p:nvSpPr>
        <p:spPr>
          <a:xfrm>
            <a:off x="365760" y="1188720"/>
            <a:ext cx="8412480" cy="914400"/>
          </a:xfrm>
          <a:prstGeom prst="rect">
            <a:avLst/>
          </a:prstGeom>
          <a:solidFill>
            <a:srgbClr val="152032"/>
          </a:solidFill>
          <a:ln w="12700">
            <a:solidFill>
              <a:srgbClr val="0D9488"/>
            </a:solidFill>
            <a:prstDash val="solid"/>
          </a:ln>
        </p:spPr>
      </p:sp>
      <p:sp>
        <p:nvSpPr>
          <p:cNvPr id="6" name="Text 4"/>
          <p:cNvSpPr/>
          <p:nvPr/>
        </p:nvSpPr>
        <p:spPr>
          <a:xfrm>
            <a:off x="594360" y="1298448"/>
            <a:ext cx="8046720" cy="68580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The pipeline generates new scenarios automatically — every simulation run = one new labeled test case. Scales to 1,000+ scenarios with zero additional human annotation.</a:t>
            </a:r>
            <a:endParaRPr lang="en-US" sz="1200" dirty="0"/>
          </a:p>
        </p:txBody>
      </p:sp>
      <p:sp>
        <p:nvSpPr>
          <p:cNvPr id="7" name="Text 5"/>
          <p:cNvSpPr/>
          <p:nvPr/>
        </p:nvSpPr>
        <p:spPr>
          <a:xfrm>
            <a:off x="365760" y="2286000"/>
            <a:ext cx="4114800" cy="292608"/>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Immediate next steps</a:t>
            </a:r>
            <a:endParaRPr lang="en-US" sz="1300" dirty="0"/>
          </a:p>
        </p:txBody>
      </p:sp>
      <p:sp>
        <p:nvSpPr>
          <p:cNvPr id="8" name="Text 6"/>
          <p:cNvSpPr/>
          <p:nvPr/>
        </p:nvSpPr>
        <p:spPr>
          <a:xfrm>
            <a:off x="365760" y="2633472"/>
            <a:ext cx="4114800" cy="384048"/>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1.  </a:t>
            </a:r>
            <a:pPr indent="0" marL="0">
              <a:buNone/>
            </a:pPr>
            <a:r>
              <a:rPr lang="en-US" sz="1050" dirty="0">
                <a:solidFill>
                  <a:srgbClr val="94A3B8"/>
                </a:solidFill>
                <a:latin typeface="Calibri" pitchFamily="34" charset="0"/>
                <a:ea typeface="Calibri" pitchFamily="34" charset="-122"/>
                <a:cs typeface="Calibri" pitchFamily="34" charset="-120"/>
              </a:rPr>
              <a:t>Evaluate GPT-4o, Gemini 1.5 Pro, and Insilico's LongevityLLM</a:t>
            </a:r>
            <a:endParaRPr lang="en-US" sz="1050" dirty="0"/>
          </a:p>
        </p:txBody>
      </p:sp>
      <p:sp>
        <p:nvSpPr>
          <p:cNvPr id="9" name="Text 7"/>
          <p:cNvSpPr/>
          <p:nvPr/>
        </p:nvSpPr>
        <p:spPr>
          <a:xfrm>
            <a:off x="365760" y="3063240"/>
            <a:ext cx="4114800" cy="384048"/>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2.  </a:t>
            </a:r>
            <a:pPr indent="0" marL="0">
              <a:buNone/>
            </a:pPr>
            <a:r>
              <a:rPr lang="en-US" sz="1050" dirty="0">
                <a:solidFill>
                  <a:srgbClr val="94A3B8"/>
                </a:solidFill>
                <a:latin typeface="Calibri" pitchFamily="34" charset="0"/>
                <a:ea typeface="Calibri" pitchFamily="34" charset="-122"/>
                <a:cs typeface="Calibri" pitchFamily="34" charset="-120"/>
              </a:rPr>
              <a:t>Scale to 1,000+ scenarios for stronger statistical power</a:t>
            </a:r>
            <a:endParaRPr lang="en-US" sz="1050" dirty="0"/>
          </a:p>
        </p:txBody>
      </p:sp>
      <p:sp>
        <p:nvSpPr>
          <p:cNvPr id="10" name="Text 8"/>
          <p:cNvSpPr/>
          <p:nvPr/>
        </p:nvSpPr>
        <p:spPr>
          <a:xfrm>
            <a:off x="365760" y="3493008"/>
            <a:ext cx="4114800" cy="384048"/>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3.  </a:t>
            </a:r>
            <a:pPr indent="0" marL="0">
              <a:buNone/>
            </a:pPr>
            <a:r>
              <a:rPr lang="en-US" sz="1050" dirty="0">
                <a:solidFill>
                  <a:srgbClr val="94A3B8"/>
                </a:solidFill>
                <a:latin typeface="Calibri" pitchFamily="34" charset="0"/>
                <a:ea typeface="Calibri" pitchFamily="34" charset="-122"/>
                <a:cs typeface="Calibri" pitchFamily="34" charset="-120"/>
              </a:rPr>
              <a:t>Validate against MESA (dbGaP) and TwinsUK longitudinal cohorts</a:t>
            </a:r>
            <a:endParaRPr lang="en-US" sz="1050" dirty="0"/>
          </a:p>
        </p:txBody>
      </p:sp>
      <p:sp>
        <p:nvSpPr>
          <p:cNvPr id="11" name="Text 9"/>
          <p:cNvSpPr/>
          <p:nvPr/>
        </p:nvSpPr>
        <p:spPr>
          <a:xfrm>
            <a:off x="365760" y="3922776"/>
            <a:ext cx="4114800" cy="384048"/>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4.  </a:t>
            </a:r>
            <a:pPr indent="0" marL="0">
              <a:buNone/>
            </a:pPr>
            <a:r>
              <a:rPr lang="en-US" sz="1050" dirty="0">
                <a:solidFill>
                  <a:srgbClr val="94A3B8"/>
                </a:solidFill>
                <a:latin typeface="Calibri" pitchFamily="34" charset="0"/>
                <a:ea typeface="Calibri" pitchFamily="34" charset="-122"/>
                <a:cs typeface="Calibri" pitchFamily="34" charset="-120"/>
              </a:rPr>
              <a:t>Contribute to LongevityBench framework for community use</a:t>
            </a:r>
            <a:endParaRPr lang="en-US" sz="1050" dirty="0"/>
          </a:p>
        </p:txBody>
      </p:sp>
      <p:sp>
        <p:nvSpPr>
          <p:cNvPr id="12" name="Text 10"/>
          <p:cNvSpPr/>
          <p:nvPr/>
        </p:nvSpPr>
        <p:spPr>
          <a:xfrm>
            <a:off x="4754880" y="2286000"/>
            <a:ext cx="4114800" cy="292608"/>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Longer term</a:t>
            </a:r>
            <a:endParaRPr lang="en-US" sz="1300" dirty="0"/>
          </a:p>
        </p:txBody>
      </p:sp>
      <p:sp>
        <p:nvSpPr>
          <p:cNvPr id="13" name="Text 11"/>
          <p:cNvSpPr/>
          <p:nvPr/>
        </p:nvSpPr>
        <p:spPr>
          <a:xfrm>
            <a:off x="4754880" y="2633472"/>
            <a:ext cx="4114800" cy="384048"/>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1.  </a:t>
            </a:r>
            <a:pPr indent="0" marL="0">
              <a:buNone/>
            </a:pPr>
            <a:r>
              <a:rPr lang="en-US" sz="1050" dirty="0">
                <a:solidFill>
                  <a:srgbClr val="94A3B8"/>
                </a:solidFill>
                <a:latin typeface="Calibri" pitchFamily="34" charset="0"/>
                <a:ea typeface="Calibri" pitchFamily="34" charset="-122"/>
                <a:cs typeface="Calibri" pitchFamily="34" charset="-120"/>
              </a:rPr>
              <a:t>Add GrimAge v2 and DunedinPACE v2 task categories</a:t>
            </a:r>
            <a:endParaRPr lang="en-US" sz="1050" dirty="0"/>
          </a:p>
        </p:txBody>
      </p:sp>
      <p:sp>
        <p:nvSpPr>
          <p:cNvPr id="14" name="Text 12"/>
          <p:cNvSpPr/>
          <p:nvPr/>
        </p:nvSpPr>
        <p:spPr>
          <a:xfrm>
            <a:off x="4754880" y="3063240"/>
            <a:ext cx="4114800" cy="384048"/>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2.  </a:t>
            </a:r>
            <a:pPr indent="0" marL="0">
              <a:buNone/>
            </a:pPr>
            <a:r>
              <a:rPr lang="en-US" sz="1050" dirty="0">
                <a:solidFill>
                  <a:srgbClr val="94A3B8"/>
                </a:solidFill>
                <a:latin typeface="Calibri" pitchFamily="34" charset="0"/>
                <a:ea typeface="Calibri" pitchFamily="34" charset="-122"/>
                <a:cs typeface="Calibri" pitchFamily="34" charset="-120"/>
              </a:rPr>
              <a:t>Build agentic pipeline to auto-generate scenarios from new papers</a:t>
            </a:r>
            <a:endParaRPr lang="en-US" sz="1050" dirty="0"/>
          </a:p>
        </p:txBody>
      </p:sp>
      <p:sp>
        <p:nvSpPr>
          <p:cNvPr id="15" name="Text 13"/>
          <p:cNvSpPr/>
          <p:nvPr/>
        </p:nvSpPr>
        <p:spPr>
          <a:xfrm>
            <a:off x="4754880" y="3493008"/>
            <a:ext cx="4114800" cy="384048"/>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3.  </a:t>
            </a:r>
            <a:pPr indent="0" marL="0">
              <a:buNone/>
            </a:pPr>
            <a:r>
              <a:rPr lang="en-US" sz="1050" dirty="0">
                <a:solidFill>
                  <a:srgbClr val="94A3B8"/>
                </a:solidFill>
                <a:latin typeface="Calibri" pitchFamily="34" charset="0"/>
                <a:ea typeface="Calibri" pitchFamily="34" charset="-122"/>
                <a:cs typeface="Calibri" pitchFamily="34" charset="-120"/>
              </a:rPr>
              <a:t>Deploy as public evaluation tool for longevity AI developers</a:t>
            </a:r>
            <a:endParaRPr lang="en-US" sz="1050" dirty="0"/>
          </a:p>
        </p:txBody>
      </p:sp>
      <p:sp>
        <p:nvSpPr>
          <p:cNvPr id="16" name="Text 14"/>
          <p:cNvSpPr/>
          <p:nvPr/>
        </p:nvSpPr>
        <p:spPr>
          <a:xfrm>
            <a:off x="4754880" y="3922776"/>
            <a:ext cx="4114800" cy="384048"/>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4.  </a:t>
            </a:r>
            <a:pPr indent="0" marL="0">
              <a:buNone/>
            </a:pPr>
            <a:r>
              <a:rPr lang="en-US" sz="1050" dirty="0">
                <a:solidFill>
                  <a:srgbClr val="94A3B8"/>
                </a:solidFill>
                <a:latin typeface="Calibri" pitchFamily="34" charset="0"/>
                <a:ea typeface="Calibri" pitchFamily="34" charset="-122"/>
                <a:cs typeface="Calibri" pitchFamily="34" charset="-120"/>
              </a:rPr>
              <a:t>Publish findings — confounder blindness is a novel research result</a:t>
            </a:r>
            <a:endParaRPr lang="en-US" sz="1050" dirty="0"/>
          </a:p>
        </p:txBody>
      </p:sp>
      <p:sp>
        <p:nvSpPr>
          <p:cNvPr id="17" name="Shape 15"/>
          <p:cNvSpPr/>
          <p:nvPr/>
        </p:nvSpPr>
        <p:spPr>
          <a:xfrm>
            <a:off x="365760" y="4663440"/>
            <a:ext cx="8412480" cy="320040"/>
          </a:xfrm>
          <a:prstGeom prst="rect">
            <a:avLst/>
          </a:prstGeom>
          <a:solidFill>
            <a:srgbClr val="152032"/>
          </a:solidFill>
          <a:ln w="12700">
            <a:solidFill>
              <a:srgbClr val="1E3A4A"/>
            </a:solidFill>
            <a:prstDash val="solid"/>
          </a:ln>
        </p:spPr>
      </p:sp>
      <p:sp>
        <p:nvSpPr>
          <p:cNvPr id="18" name="Text 16"/>
          <p:cNvSpPr/>
          <p:nvPr/>
        </p:nvSpPr>
        <p:spPr>
          <a:xfrm>
            <a:off x="548640" y="4690872"/>
            <a:ext cx="8046720" cy="256032"/>
          </a:xfrm>
          <a:prstGeom prst="rect">
            <a:avLst/>
          </a:prstGeom>
          <a:noFill/>
          <a:ln/>
        </p:spPr>
        <p:txBody>
          <a:bodyPr wrap="square" rtlCol="0" anchor="ctr"/>
          <a:lstStyle/>
          <a:p>
            <a:pPr algn="ctr" indent="0" marL="0">
              <a:buNone/>
            </a:pPr>
            <a:r>
              <a:rPr lang="en-US" sz="950" dirty="0">
                <a:solidFill>
                  <a:srgbClr val="0D9488"/>
                </a:solidFill>
                <a:latin typeface="Calibri" pitchFamily="34" charset="0"/>
                <a:ea typeface="Calibri" pitchFamily="34" charset="-122"/>
                <a:cs typeface="Calibri" pitchFamily="34" charset="-120"/>
              </a:rPr>
              <a:t>github.com/varunnair1234/Epigenetic-Clock-Reasoning-Bench  ·  Caltech Longevity Hackathon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Epigenetic Clock Reasoning Bench</dc:title>
  <dc:subject>PptxGenJS Presentation</dc:subject>
  <dc:creator>Vishnu Tej Gavvala &amp; Varun Nair</dc:creator>
  <cp:lastModifiedBy>Vishnu Tej Gavvala &amp; Varun Nair</cp:lastModifiedBy>
  <cp:revision>1</cp:revision>
  <dcterms:created xsi:type="dcterms:W3CDTF">2026-05-24T06:53:55Z</dcterms:created>
  <dcterms:modified xsi:type="dcterms:W3CDTF">2026-05-24T06:53:55Z</dcterms:modified>
</cp:coreProperties>
</file>